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2" r:id="rId2"/>
    <p:sldId id="256" r:id="rId3"/>
    <p:sldId id="258" r:id="rId4"/>
    <p:sldId id="261" r:id="rId5"/>
    <p:sldId id="259" r:id="rId6"/>
    <p:sldId id="260"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45" d="100"/>
          <a:sy n="145" d="100"/>
        </p:scale>
        <p:origin x="112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559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Of the hackathon workflows, we chose workflow 4: credit-product information and eligibility. We are The Trident: Eladio on data, Manuela on AI and machine learning, Nicolle on the service. This is Agente Crédito LATAM, a credit assistant a bank can switch on. Everything on the next slides runs live at the link on the right; the home page is written for you, and from there you can try the customer chat with five test customers.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questions are 22% of the bank's contacts: over 150 thousand in three years, half of them from Mexico. Nine in ten are already solved on the first contact, so this is work an assistant can take on. It is also where regulation leaves no room: an AI must never decide on credit. That is the line we designed around. The reading: absorb the repeatable, and never decide the edge. Almost half of Basic customers sit right on the score cutoff, and one in five has no declared income, so those cases go to a person. That is what The Trident built: an assistant that knows when not to act. That is why we chose workflow 4: it is the most repeatable contact, and it is exactly where the edge cases must go to a person.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the bank switches on serves three people: the customer gets cited answers in Spanish or Portuguese and a pre-check only after consent; the analyst gets escalated cases with the facts and the reason; the bank gets versioned rules, country rate caps and a trace for every turn. Every turn runs through five steps. A regex guardrail reads the message before the model, then Llama 3.3 70B extracts the intent as typed JSON. Decide has no AI: versioned rules, the token's scopes and each country's rate cap. Act only calls typed, authorized tools; the pre-score informs, it never approves. Verify has no AI either: a figure without a citation does not leave. And when it should not act, a person gets the case with full context.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real architecture, drawn by the team with the official icons and exported by our CI. Data lands from S3 into Azure Data Lake, runs as a medallion on Databricks with Unity Catalog, and the gold tables feed the agent. The agent is LangGraph on Azure Functions, behind a static web app, with Llama 3.3 and bge-m3 on Databricks and Cosmos DB as the vector store. Three design choices matter to a bank. First, retrieval: answers come only from bank policy, with hybrid search in Spanish and Portuguese. Second, external sources: the regulators' rate caps are data with their URL and date, and our attack tests follow MITRE ATLAS. Third, the workflow: a fixed graph, not a free agent, so the model never approves and the same input always gets the same decision. On the right, the enterprise target: private endpoints, a WAF, Entra ID and a hub-and-spoke network, in the same diagram file. And all of it is code: Terraform, approvals, eight contracts first so three people worked in parallel, an ADR per decision, our own agent skill, and 210 tests plus the evaluation on every pull request.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what matters in banking: knowing when not to act. On 82 cases in Spanish and Portuguese, with every dependency real, abstain accuracy is 0.98 and the false action rate is 0.019. Of 15 MITRE ATLAS attacks, none got through: a guardrail with no AI took injections from 0.267 to zero. Prompt v2 cut intent failures from 11 to 3. And portfolio features lifted the pre-score AUC from 0.66 to 0.78; the model choice added nothing, so the simplest one won.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runs live on Azure and Databricks, with every dependency real, and each turn leaves a trace with its cost. We load-tested the deployed app with ten users at once. The median turn takes 2.7 seconds. The 95th percentile is 17.5, above our 8-second target, and we say so. A per-customer SQL memo already cut the pre-check from 14.8 to 4.7 seconds; what is left is the queue of the pay-per-token model. Five of 89 turns hit its rate limit, and each one went to an advisor instead of giving a broken answer. What is next: provisioned throughput and a retry on rate limits for the p95, real call transcripts for intent labels, and the official monthly rate caps for Colombia and Mexico.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6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812788"/>
            <a:ext cx="10566390" cy="621771"/>
          </a:xfrm>
          <a:prstGeom prst="rect">
            <a:avLst/>
          </a:prstGeom>
          <a:noFill/>
          <a:ln/>
        </p:spPr>
        <p:txBody>
          <a:bodyPr wrap="square" lIns="0" tIns="0" rIns="0" bIns="0" rtlCol="0" anchor="t"/>
          <a:lstStyle>
            <a:lvl1pPr marL="0" indent="0" algn="l">
              <a:lnSpc>
                <a:spcPct val="115000"/>
              </a:lnSpc>
              <a:buNone/>
              <a:defRPr lang="en-US" sz="3200" dirty="0">
                <a:solidFill>
                  <a:srgbClr val="22161A"/>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739359"/>
            <a:ext cx="10566412" cy="4305841"/>
          </a:xfrm>
          <a:prstGeom prst="rect">
            <a:avLst/>
          </a:prstGeom>
          <a:noFill/>
          <a:ln/>
        </p:spPr>
        <p:txBody>
          <a:bodyPr wrap="square" lIns="0" tIns="0" rIns="0" bIns="0" rtlCol="0" anchor="t"/>
          <a:lstStyle>
            <a:lvl1pPr marL="0" indent="0" algn="l">
              <a:lnSpc>
                <a:spcPct val="140000"/>
              </a:lnSpc>
              <a:buNone/>
              <a:defRPr lang="en-US" sz="1600" dirty="0">
                <a:solidFill>
                  <a:srgbClr val="22161A"/>
                </a:solidFill>
                <a:latin typeface="Plus Jakarta Sans" pitchFamily="34" charset="0"/>
                <a:ea typeface="Plus Jakarta Sans" pitchFamily="34" charset="-122"/>
                <a:cs typeface="Plus Jakarta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6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812788"/>
            <a:ext cx="10566390" cy="621771"/>
          </a:xfrm>
          <a:prstGeom prst="rect">
            <a:avLst/>
          </a:prstGeom>
          <a:noFill/>
          <a:ln/>
        </p:spPr>
        <p:txBody>
          <a:bodyPr wrap="square" lIns="0" tIns="0" rIns="0" bIns="0" rtlCol="0" anchor="t"/>
          <a:lstStyle>
            <a:lvl1pPr marL="0" indent="0" algn="l">
              <a:lnSpc>
                <a:spcPct val="115000"/>
              </a:lnSpc>
              <a:buNone/>
              <a:defRPr lang="en-US" sz="3200" dirty="0">
                <a:solidFill>
                  <a:srgbClr val="22161A"/>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739359"/>
            <a:ext cx="10566412" cy="4305841"/>
          </a:xfrm>
          <a:prstGeom prst="rect">
            <a:avLst/>
          </a:prstGeom>
          <a:noFill/>
          <a:ln/>
        </p:spPr>
        <p:txBody>
          <a:bodyPr wrap="square" lIns="0" tIns="0" rIns="0" bIns="0" rtlCol="0" anchor="t"/>
          <a:lstStyle>
            <a:lvl1pPr marL="0" indent="0" algn="l">
              <a:lnSpc>
                <a:spcPct val="140000"/>
              </a:lnSpc>
              <a:buNone/>
              <a:defRPr lang="en-US" sz="1600" dirty="0">
                <a:solidFill>
                  <a:srgbClr val="22161A"/>
                </a:solidFill>
                <a:latin typeface="Plus Jakarta Sans" pitchFamily="34" charset="0"/>
                <a:ea typeface="Plus Jakarta Sans" pitchFamily="34" charset="-122"/>
                <a:cs typeface="Plus Jakarta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hyperlink" Target="https://gentle-moss-06f3f1f0f.2.azurestaticapps.net" TargetMode="External"/><Relationship Id="rId7" Type="http://schemas.openxmlformats.org/officeDocument/2006/relationships/hyperlink" Target="https://github.com/NicolleMayol/factored-hackathon-2026-the-triden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hub.com/NicolleMayol/factored-hackathon-2026-the-trident/blob/main/data/insights/insights_demanda.p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NicolleMayol/factored-hackathon-2026-the-trident/blob/main/agent/guardrails.py" TargetMode="External"/><Relationship Id="rId4" Type="http://schemas.openxmlformats.org/officeDocument/2006/relationships/image" Target="../media/image4.png"/><Relationship Id="rId5" Type="http://schemas.openxmlformats.org/officeDocument/2006/relationships/hyperlink" Target="https://github.com/NicolleMayol/factored-hackathon-2026-the-trident/blob/main/policy/policy.yaml" TargetMode="External"/><Relationship Id="rId6" Type="http://schemas.openxmlformats.org/officeDocument/2006/relationships/hyperlink" Target="https://github.com/NicolleMayol/factored-hackathon-2026-the-trident/blob/main/contracts/tools.yaml" TargetMode="External"/><Relationship Id="rId7" Type="http://schemas.openxmlformats.org/officeDocument/2006/relationships/hyperlink" Target="https://github.com/NicolleMayol/factored-hackathon-2026-the-trident/blob/main/agent/graph/nodes.py" TargetMode="External"/><Relationship Id="rId8" Type="http://schemas.openxmlformats.org/officeDocument/2006/relationships/hyperlink" Target="https://github.com/NicolleMayol/factored-hackathon-2026-the-trident/blob/main/contracts/handoff.schema.json" TargetMode="External"/><Relationship Id="rId9" Type="http://schemas.openxmlformats.org/officeDocument/2006/relationships/hyperlink" Target="https://github.com/NicolleMayol/factored-hackathon-2026-the-trident/blob/main/agent/README.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NicolleMayol/factored-hackathon-2026-the-trident/tree/main/diagrams" TargetMode="External"/><Relationship Id="rId4" Type="http://schemas.openxmlformats.org/officeDocument/2006/relationships/hyperlink" Target="https://github.com/NicolleMayol/factored-hackathon-2026-the-trident/blob/main/diagrams/out/arquitectura-DEMO.png" TargetMode="External"/><Relationship Id="rId5" Type="http://schemas.openxmlformats.org/officeDocument/2006/relationships/image" Target="../media/image5.png"/><Relationship Id="rId6" Type="http://schemas.openxmlformats.org/officeDocument/2006/relationships/hyperlink" Target="https://github.com/NicolleMayol/factored-hackathon-2026-the-trident/tree/main/infra" TargetMode="External"/><Relationship Id="rId7" Type="http://schemas.openxmlformats.org/officeDocument/2006/relationships/hyperlink" Target="https://github.com/NicolleMayol/factored-hackathon-2026-the-trident/tree/main/contracts" TargetMode="External"/><Relationship Id="rId8" Type="http://schemas.openxmlformats.org/officeDocument/2006/relationships/hyperlink" Target="https://github.com/NicolleMayol/factored-hackathon-2026-the-trident/blob/main/docs/adr/decisions.md" TargetMode="External"/><Relationship Id="rId9" Type="http://schemas.openxmlformats.org/officeDocument/2006/relationships/hyperlink" Target="https://github.com/NicolleMayol/factored-hackathon-2026-the-trident/tree/main/.claude/skills/adr-hackathon" TargetMode="External"/><Relationship Id="rId10" Type="http://schemas.openxmlformats.org/officeDocument/2006/relationships/hyperlink" Target="https://github.com/NicolleMayol/factored-hackathon-2026-the-trident/tree/main/tests" TargetMode="External"/><Relationship Id="rId11" Type="http://schemas.openxmlformats.org/officeDocument/2006/relationships/hyperlink" Target="https://github.com/NicolleMayol/factored-hackathon-2026-the-trident/blob/main/docs/adr/21-ajustes-ia-ml.md" TargetMode="External"/><Relationship Id="rId12" Type="http://schemas.openxmlformats.org/officeDocument/2006/relationships/hyperlink" Target="https://github.com/NicolleMayol/factored-hackathon-2026-the-trident/blob/main/docs/adr/12-fuentes-externas.md" TargetMode="External"/><Relationship Id="rId13" Type="http://schemas.openxmlformats.org/officeDocument/2006/relationships/hyperlink" Target="https://github.com/NicolleMayol/factored-hackathon-2026-the-trident/blob/main/agent/README.md" TargetMode="External"/><Relationship Id="rId14" Type="http://schemas.openxmlformats.org/officeDocument/2006/relationships/hyperlink" Target="https://github.com/NicolleMayol/factored-hackathon-2026-the-trident/blob/main/diagrams/out/arquitectura-ENTERPRISE.png" TargetMode="External"/><Relationship Id="rId15" Type="http://schemas.openxmlformats.org/officeDocument/2006/relationships/image" Target="../media/image6.png"/><Relationship Id="rId16" Type="http://schemas.openxmlformats.org/officeDocument/2006/relationships/hyperlink" Target="https://github.com/NicolleMayol/factored-hackathon-2026-the-trident/blob/main/docs/adr/07-hackathon-vs-tobe.m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NicolleMayol/factored-hackathon-2026-the-trident/blob/main/eval/README.md" TargetMode="External"/><Relationship Id="rId4" Type="http://schemas.openxmlformats.org/officeDocument/2006/relationships/hyperlink" Target="https://github.com/NicolleMayol/factored-hackathon-2026-the-trident/blob/main/agent/guardrails.py" TargetMode="External"/><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hyperlink" Target="https://github.com/NicolleMayol/factored-hackathon-2026-the-trident/blob/main/eval/models.md" TargetMode="External"/><Relationship Id="rId8" Type="http://schemas.openxmlformats.org/officeDocument/2006/relationships/hyperlink" Target="https://github.com/NicolleMayol/factored-hackathon-2026-the-trident/blob/main/ml/train_prescore.p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gentle-moss-06f3f1f0f.2.azurestaticapps.net/api/healthz" TargetMode="External"/><Relationship Id="rId4" Type="http://schemas.openxmlformats.org/officeDocument/2006/relationships/hyperlink" Target="https://github.com/NicolleMayol/factored-hackathon-2026-the-trident/blob/main/README.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1" name="Background"/>
          <p:cNvSpPr/>
          <p:nvPr/>
        </p:nvSpPr>
        <p:spPr>
          <a:xfrm>
            <a:off x="0" y="0"/>
            <a:ext cx="12191695" cy="6858000"/>
          </a:xfrm>
          <a:prstGeom prst="rect">
            <a:avLst/>
          </a:prstGeom>
          <a:solidFill>
            <a:srgbClr val="22161A"/>
          </a:solidFill>
          <a:ln>
            <a:noFill/>
          </a:ln>
        </p:spPr>
        <p:txBody>
          <a:bodyPr/>
          <a:lstStyle/>
          <a:p>
            <a:endParaRPr lang="en-US"/>
          </a:p>
        </p:txBody>
      </p:sp>
      <p:sp>
        <p:nvSpPr>
          <p:cNvPr id="9002" name="Kicker"/>
          <p:cNvSpPr txBox="1"/>
          <p:nvPr/>
        </p:nvSpPr>
        <p:spPr>
          <a:xfrm>
            <a:off x="813816" y="566928"/>
            <a:ext cx="7315200" cy="274320"/>
          </a:xfrm>
          <a:prstGeom prst="rect">
            <a:avLst/>
          </a:prstGeom>
          <a:noFill/>
          <a:ln/>
        </p:spPr>
        <p:txBody>
          <a:bodyPr wrap="square" lIns="0" tIns="0" rIns="0" bIns="0" rtlCol="0" anchor="t">
            <a:noAutofit/>
          </a:bodyPr>
          <a:lstStyle/>
          <a:p>
            <a:pPr marL="0" indent="0" algn="l">
              <a:lnSpc>
                <a:spcPts val="1439"/>
              </a:lnSpc>
              <a:buNone/>
            </a:pPr>
            <a:r>
              <a:rPr lang="en-US" sz="1200" spc="60" dirty="0">
                <a:solidFill>
                  <a:srgbClr val="CBCAC8"/>
                </a:solidFill>
                <a:latin typeface="IBM Plex Mono"/>
                <a:ea typeface="IBM Plex Mono"/>
                <a:cs typeface="IBM Plex Mono"/>
              </a:rPr>
              <a:t>THE TRIDENT · FACTORED AI &amp; DATA HACKATHON 2026</a:t>
            </a:r>
            <a:endParaRPr lang="en-US" sz="1200" dirty="0"/>
          </a:p>
        </p:txBody>
      </p:sp>
      <p:sp>
        <p:nvSpPr>
          <p:cNvPr id="9003" name="Title"/>
          <p:cNvSpPr txBox="1"/>
          <p:nvPr/>
        </p:nvSpPr>
        <p:spPr>
          <a:xfrm>
            <a:off x="813816" y="1325880"/>
            <a:ext cx="6217920" cy="1920240"/>
          </a:xfrm>
          <a:prstGeom prst="rect">
            <a:avLst/>
          </a:prstGeom>
          <a:noFill/>
          <a:ln/>
        </p:spPr>
        <p:txBody>
          <a:bodyPr wrap="square" lIns="0" tIns="0" rIns="0" bIns="0" rtlCol="0" anchor="t">
            <a:noAutofit/>
          </a:bodyPr>
          <a:lstStyle/>
          <a:p>
            <a:pPr marL="0" indent="0" algn="l">
              <a:lnSpc>
                <a:spcPts val="5250"/>
              </a:lnSpc>
              <a:buNone/>
            </a:pPr>
            <a:r>
              <a:rPr lang="en-US" sz="5000" b="1" spc="-100" dirty="0">
                <a:solidFill>
                  <a:srgbClr val="FFFFFF"/>
                </a:solidFill>
                <a:latin typeface="Bricolage Grotesque"/>
                <a:ea typeface="Bricolage Grotesque"/>
                <a:cs typeface="Bricolage Grotesque"/>
              </a:rPr>
              <a:t>Agente Crédito</a:t>
            </a:r>
            <a:endParaRPr lang="en-US" sz="5000" dirty="0"/>
          </a:p>
          <a:p>
            <a:pPr marL="0" indent="0" algn="l">
              <a:lnSpc>
                <a:spcPts val="5250"/>
              </a:lnSpc>
              <a:buNone/>
            </a:pPr>
            <a:r>
              <a:rPr lang="en-US" sz="5000" b="1" spc="-100" dirty="0">
                <a:solidFill>
                  <a:srgbClr val="F6E1E1"/>
                </a:solidFill>
                <a:latin typeface="Bricolage Grotesque"/>
                <a:ea typeface="Bricolage Grotesque"/>
                <a:cs typeface="Bricolage Grotesque"/>
              </a:rPr>
              <a:t>LATAM</a:t>
            </a:r>
            <a:endParaRPr lang="en-US" sz="5000" dirty="0"/>
          </a:p>
        </p:txBody>
      </p:sp>
      <p:sp>
        <p:nvSpPr>
          <p:cNvPr id="9004" name="Tagline"/>
          <p:cNvSpPr txBox="1"/>
          <p:nvPr/>
        </p:nvSpPr>
        <p:spPr>
          <a:xfrm>
            <a:off x="813816" y="2761488"/>
            <a:ext cx="6035040" cy="1691640"/>
          </a:xfrm>
          <a:prstGeom prst="rect">
            <a:avLst/>
          </a:prstGeom>
          <a:noFill/>
          <a:ln/>
        </p:spPr>
        <p:txBody>
          <a:bodyPr wrap="square" lIns="0" tIns="0" rIns="0" bIns="0" rtlCol="0" anchor="t">
            <a:noAutofit/>
          </a:bodyPr>
          <a:lstStyle/>
          <a:p>
            <a:pPr marL="0" indent="0" algn="l">
              <a:lnSpc>
                <a:spcPts val="1400"/>
              </a:lnSpc>
              <a:spcAft>
                <a:spcPts val="800"/>
              </a:spcAft>
              <a:buNone/>
            </a:pPr>
            <a:r>
              <a:rPr lang="en-US" sz="1100" b="1" dirty="0" spc="60">
                <a:solidFill>
                  <a:srgbClr val="F6E1E1"/>
                </a:solidFill>
                <a:latin typeface="IBM Plex Mono"/>
                <a:ea typeface="IBM Plex Mono"/>
                <a:cs typeface="IBM Plex Mono"/>
              </a:rPr>
              <a:t>WORKFLOW 4 · CREDIT-PRODUCT INFORMATION AND ELIGIBILITY</a:t>
            </a:r>
            <a:endParaRPr lang="en-US" sz="2000" dirty="0"/>
          </a:p>
          <a:p>
            <a:pPr marL="0" indent="0" algn="l">
              <a:lnSpc>
                <a:spcPts val="2600"/>
              </a:lnSpc>
              <a:spcAft>
                <a:spcPts val="600"/>
              </a:spcAft>
              <a:buNone/>
            </a:pPr>
            <a:r>
              <a:rPr lang="en-US" sz="2000" b="1" dirty="0">
                <a:solidFill>
                  <a:srgbClr val="FFFFFF"/>
                </a:solidFill>
                <a:latin typeface="Plus Jakarta Sans"/>
                <a:ea typeface="Plus Jakarta Sans"/>
                <a:cs typeface="Plus Jakarta Sans"/>
              </a:rPr>
              <a:t>A credit assistant a bank can switch on.</a:t>
            </a:r>
            <a:endParaRPr lang="en-US" sz="2000" dirty="0"/>
          </a:p>
          <a:p>
            <a:pPr marL="0" indent="0" algn="l">
              <a:lnSpc>
                <a:spcPts val="2160"/>
              </a:lnSpc>
              <a:buNone/>
            </a:pPr>
            <a:r>
              <a:rPr lang="en-US" sz="1600" dirty="0">
                <a:solidFill>
                  <a:srgbClr val="D9CCC7"/>
                </a:solidFill>
                <a:latin typeface="Plus Jakarta Sans"/>
                <a:ea typeface="Plus Jakarta Sans"/>
                <a:cs typeface="Plus Jakarta Sans"/>
              </a:rPr>
              <a:t>The model talks, rules decide, every figure is cited, and it knows when not to act. In Spanish and Portuguese, for Colombia, Mexico and Argentina.</a:t>
            </a:r>
            <a:endParaRPr lang="en-US" sz="1600" dirty="0"/>
          </a:p>
        </p:txBody>
      </p:sp>
      <p:pic>
        <p:nvPicPr>
          <p:cNvPr id="9005" name="Photo · Eladio Yovera" descr="eladio.jpg"/>
          <p:cNvPicPr>
            <a:picLocks noChangeAspect="1"/>
          </p:cNvPicPr>
          <p:nvPr/>
        </p:nvPicPr>
        <p:blipFill>
          <a:blip r:embed="rId3"/>
          <a:stretch>
            <a:fillRect/>
          </a:stretch>
        </p:blipFill>
        <p:spPr>
          <a:xfrm>
            <a:off x="813816" y="4572000"/>
            <a:ext cx="749808" cy="749808"/>
          </a:xfrm>
          <a:prstGeom prst="ellipse">
            <a:avLst/>
          </a:prstGeom>
          <a:ln w="19050">
            <a:solidFill>
              <a:srgbClr val="4A3A3F"/>
            </a:solidFill>
          </a:ln>
        </p:spPr>
      </p:pic>
      <p:sp>
        <p:nvSpPr>
          <p:cNvPr id="2" name="Member · Eladio Yovera"/>
          <p:cNvSpPr txBox="1"/>
          <p:nvPr/>
        </p:nvSpPr>
        <p:spPr>
          <a:xfrm>
            <a:off x="813816" y="5413248"/>
            <a:ext cx="1965960" cy="914400"/>
          </a:xfrm>
          <a:prstGeom prst="rect">
            <a:avLst/>
          </a:prstGeom>
          <a:noFill/>
          <a:ln/>
        </p:spPr>
        <p:txBody>
          <a:bodyPr wrap="square" lIns="0" tIns="0" rIns="0" bIns="0" rtlCol="0" anchor="t">
            <a:noAutofit/>
          </a:bodyPr>
          <a:lstStyle/>
          <a:p>
            <a:pPr marL="0" indent="0" algn="l">
              <a:lnSpc>
                <a:spcPts val="1437"/>
              </a:lnSpc>
              <a:spcAft>
                <a:spcPts val="100"/>
              </a:spcAft>
              <a:buNone/>
            </a:pPr>
            <a:r>
              <a:rPr lang="en-US" sz="1250" b="1" dirty="0">
                <a:solidFill>
                  <a:srgbClr val="FFFFFF"/>
                </a:solidFill>
                <a:latin typeface="Plus Jakarta Sans"/>
                <a:ea typeface="Plus Jakarta Sans"/>
                <a:cs typeface="Plus Jakarta Sans"/>
              </a:rPr>
              <a:t>Eladio Yovera</a:t>
            </a:r>
            <a:endParaRPr lang="en-US" sz="1250" dirty="0"/>
          </a:p>
          <a:p>
            <a:pPr marL="0" indent="0" algn="l">
              <a:lnSpc>
                <a:spcPts val="1260"/>
              </a:lnSpc>
              <a:spcAft>
                <a:spcPts val="200"/>
              </a:spcAft>
              <a:buNone/>
            </a:pPr>
            <a:r>
              <a:rPr lang="en-US" sz="1050" b="1" dirty="0">
                <a:solidFill>
                  <a:srgbClr val="F6E1E1"/>
                </a:solidFill>
                <a:latin typeface="Plus Jakarta Sans"/>
                <a:ea typeface="Plus Jakarta Sans"/>
                <a:cs typeface="Plus Jakarta Sans"/>
              </a:rPr>
              <a:t>Data platform</a:t>
            </a:r>
            <a:endParaRPr lang="en-US" sz="1050" dirty="0"/>
          </a:p>
          <a:p>
            <a:pPr marL="0" indent="0" algn="l">
              <a:lnSpc>
                <a:spcPts val="1200"/>
              </a:lnSpc>
              <a:buNone/>
            </a:pPr>
            <a:r>
              <a:rPr lang="en-US" sz="1000" dirty="0">
                <a:solidFill>
                  <a:srgbClr val="CBCAC8"/>
                </a:solidFill>
                <a:latin typeface="Plus Jakarta Sans"/>
                <a:ea typeface="Plus Jakarta Sans"/>
                <a:cs typeface="Plus Jakarta Sans"/>
              </a:rPr>
              <a:t>Medallion pipelines and demand insights</a:t>
            </a:r>
            <a:endParaRPr lang="en-US" sz="1000" dirty="0"/>
          </a:p>
        </p:txBody>
      </p:sp>
      <p:pic>
        <p:nvPicPr>
          <p:cNvPr id="9006" name="Photo · Manuela Larrea" descr="manuela.jpg"/>
          <p:cNvPicPr>
            <a:picLocks noChangeAspect="1"/>
          </p:cNvPicPr>
          <p:nvPr/>
        </p:nvPicPr>
        <p:blipFill>
          <a:blip r:embed="rId4"/>
          <a:stretch>
            <a:fillRect/>
          </a:stretch>
        </p:blipFill>
        <p:spPr>
          <a:xfrm>
            <a:off x="2916936" y="4572000"/>
            <a:ext cx="749808" cy="749808"/>
          </a:xfrm>
          <a:prstGeom prst="ellipse">
            <a:avLst/>
          </a:prstGeom>
          <a:ln w="19050">
            <a:solidFill>
              <a:srgbClr val="4A3A3F"/>
            </a:solidFill>
          </a:ln>
        </p:spPr>
      </p:pic>
      <p:sp>
        <p:nvSpPr>
          <p:cNvPr id="3" name="Member · Manuela Larrea"/>
          <p:cNvSpPr txBox="1"/>
          <p:nvPr/>
        </p:nvSpPr>
        <p:spPr>
          <a:xfrm>
            <a:off x="2916936" y="5413248"/>
            <a:ext cx="1965960" cy="914400"/>
          </a:xfrm>
          <a:prstGeom prst="rect">
            <a:avLst/>
          </a:prstGeom>
          <a:noFill/>
          <a:ln/>
        </p:spPr>
        <p:txBody>
          <a:bodyPr wrap="square" lIns="0" tIns="0" rIns="0" bIns="0" rtlCol="0" anchor="t">
            <a:noAutofit/>
          </a:bodyPr>
          <a:lstStyle/>
          <a:p>
            <a:pPr marL="0" indent="0" algn="l">
              <a:lnSpc>
                <a:spcPts val="1437"/>
              </a:lnSpc>
              <a:spcAft>
                <a:spcPts val="100"/>
              </a:spcAft>
              <a:buNone/>
            </a:pPr>
            <a:r>
              <a:rPr lang="en-US" sz="1250" b="1" dirty="0">
                <a:solidFill>
                  <a:srgbClr val="FFFFFF"/>
                </a:solidFill>
                <a:latin typeface="Plus Jakarta Sans"/>
                <a:ea typeface="Plus Jakarta Sans"/>
                <a:cs typeface="Plus Jakarta Sans"/>
              </a:rPr>
              <a:t>Manuela Larrea</a:t>
            </a:r>
            <a:endParaRPr lang="en-US" sz="1250" dirty="0"/>
          </a:p>
          <a:p>
            <a:pPr marL="0" indent="0" algn="l">
              <a:lnSpc>
                <a:spcPts val="1260"/>
              </a:lnSpc>
              <a:spcAft>
                <a:spcPts val="200"/>
              </a:spcAft>
              <a:buNone/>
            </a:pPr>
            <a:r>
              <a:rPr lang="en-US" sz="1050" b="1" dirty="0">
                <a:solidFill>
                  <a:srgbClr val="F6E1E1"/>
                </a:solidFill>
                <a:latin typeface="Plus Jakarta Sans"/>
                <a:ea typeface="Plus Jakarta Sans"/>
                <a:cs typeface="Plus Jakarta Sans"/>
              </a:rPr>
              <a:t>AI / ML</a:t>
            </a:r>
            <a:endParaRPr lang="en-US" sz="1050" dirty="0"/>
          </a:p>
          <a:p>
            <a:pPr marL="0" indent="0" algn="l">
              <a:lnSpc>
                <a:spcPts val="1200"/>
              </a:lnSpc>
              <a:buNone/>
            </a:pPr>
            <a:r>
              <a:rPr lang="en-US" sz="1000" dirty="0">
                <a:solidFill>
                  <a:srgbClr val="CBCAC8"/>
                </a:solidFill>
                <a:latin typeface="Plus Jakarta Sans"/>
                <a:ea typeface="Plus Jakarta Sans"/>
                <a:cs typeface="Plus Jakarta Sans"/>
              </a:rPr>
              <a:t>Agent, rules, retrieval, pre-score, evals</a:t>
            </a:r>
            <a:endParaRPr lang="en-US" sz="1000" dirty="0"/>
          </a:p>
        </p:txBody>
      </p:sp>
      <p:pic>
        <p:nvPicPr>
          <p:cNvPr id="9007" name="Photo · Nicolle Mayol" descr="nicolle.jpg"/>
          <p:cNvPicPr>
            <a:picLocks noChangeAspect="1"/>
          </p:cNvPicPr>
          <p:nvPr/>
        </p:nvPicPr>
        <p:blipFill>
          <a:blip r:embed="rId5"/>
          <a:stretch>
            <a:fillRect/>
          </a:stretch>
        </p:blipFill>
        <p:spPr>
          <a:xfrm>
            <a:off x="5020055" y="4572000"/>
            <a:ext cx="749808" cy="749808"/>
          </a:xfrm>
          <a:prstGeom prst="ellipse">
            <a:avLst/>
          </a:prstGeom>
          <a:ln w="19050">
            <a:solidFill>
              <a:srgbClr val="4A3A3F"/>
            </a:solidFill>
          </a:ln>
        </p:spPr>
      </p:pic>
      <p:sp>
        <p:nvSpPr>
          <p:cNvPr id="4" name="Member · Nicolle Mayol"/>
          <p:cNvSpPr txBox="1"/>
          <p:nvPr/>
        </p:nvSpPr>
        <p:spPr>
          <a:xfrm>
            <a:off x="5020056" y="5413248"/>
            <a:ext cx="1965960" cy="914400"/>
          </a:xfrm>
          <a:prstGeom prst="rect">
            <a:avLst/>
          </a:prstGeom>
          <a:noFill/>
          <a:ln/>
        </p:spPr>
        <p:txBody>
          <a:bodyPr wrap="square" lIns="0" tIns="0" rIns="0" bIns="0" rtlCol="0" anchor="t">
            <a:noAutofit/>
          </a:bodyPr>
          <a:lstStyle/>
          <a:p>
            <a:pPr marL="0" indent="0" algn="l">
              <a:lnSpc>
                <a:spcPts val="1437"/>
              </a:lnSpc>
              <a:spcAft>
                <a:spcPts val="100"/>
              </a:spcAft>
              <a:buNone/>
            </a:pPr>
            <a:r>
              <a:rPr lang="en-US" sz="1250" b="1" dirty="0">
                <a:solidFill>
                  <a:srgbClr val="FFFFFF"/>
                </a:solidFill>
                <a:latin typeface="Plus Jakarta Sans"/>
                <a:ea typeface="Plus Jakarta Sans"/>
                <a:cs typeface="Plus Jakarta Sans"/>
              </a:rPr>
              <a:t>Nicolle Mayol</a:t>
            </a:r>
            <a:endParaRPr lang="en-US" sz="1250" dirty="0"/>
          </a:p>
          <a:p>
            <a:pPr marL="0" indent="0" algn="l">
              <a:lnSpc>
                <a:spcPts val="1260"/>
              </a:lnSpc>
              <a:spcAft>
                <a:spcPts val="200"/>
              </a:spcAft>
              <a:buNone/>
            </a:pPr>
            <a:r>
              <a:rPr lang="en-US" sz="1050" b="1" dirty="0">
                <a:solidFill>
                  <a:srgbClr val="F6E1E1"/>
                </a:solidFill>
                <a:latin typeface="Plus Jakarta Sans"/>
                <a:ea typeface="Plus Jakarta Sans"/>
                <a:cs typeface="Plus Jakarta Sans"/>
              </a:rPr>
              <a:t>Service</a:t>
            </a:r>
            <a:endParaRPr lang="en-US" sz="1050" dirty="0"/>
          </a:p>
          <a:p>
            <a:pPr marL="0" indent="0" algn="l">
              <a:lnSpc>
                <a:spcPts val="1200"/>
              </a:lnSpc>
              <a:buNone/>
            </a:pPr>
            <a:r>
              <a:rPr lang="en-US" sz="1000" dirty="0">
                <a:solidFill>
                  <a:srgbClr val="CBCAC8"/>
                </a:solidFill>
                <a:latin typeface="Plus Jakarta Sans"/>
                <a:ea typeface="Plus Jakarta Sans"/>
                <a:cs typeface="Plus Jakarta Sans"/>
              </a:rPr>
              <a:t>Azure, CI/CD, load tests, front end</a:t>
            </a:r>
            <a:endParaRPr lang="en-US" sz="1000" dirty="0"/>
          </a:p>
        </p:txBody>
      </p:sp>
      <p:sp>
        <p:nvSpPr>
          <p:cNvPr id="9008" name="Try it panel"/>
          <p:cNvSpPr/>
          <p:nvPr/>
        </p:nvSpPr>
        <p:spPr>
          <a:xfrm>
            <a:off x="7269480" y="1325880"/>
            <a:ext cx="4114800" cy="4800600"/>
          </a:xfrm>
          <a:prstGeom prst="roundRect">
            <a:avLst>
              <a:gd name="adj" fmla="val 11264"/>
            </a:avLst>
          </a:prstGeom>
          <a:solidFill>
            <a:srgbClr val="2E2226"/>
          </a:solidFill>
          <a:ln w="6350">
            <a:solidFill>
              <a:srgbClr val="4A3A3F"/>
            </a:solidFill>
          </a:ln>
        </p:spPr>
        <p:txBody>
          <a:bodyPr/>
          <a:lstStyle/>
          <a:p>
            <a:endParaRPr lang="en-US"/>
          </a:p>
        </p:txBody>
      </p:sp>
      <p:sp>
        <p:nvSpPr>
          <p:cNvPr id="9009" name="Try label"/>
          <p:cNvSpPr txBox="1"/>
          <p:nvPr/>
        </p:nvSpPr>
        <p:spPr>
          <a:xfrm>
            <a:off x="7543800" y="1581912"/>
            <a:ext cx="3566160" cy="274320"/>
          </a:xfrm>
          <a:prstGeom prst="rect">
            <a:avLst/>
          </a:prstGeom>
          <a:noFill/>
          <a:ln/>
        </p:spPr>
        <p:txBody>
          <a:bodyPr wrap="square" lIns="0" tIns="0" rIns="0" bIns="0" rtlCol="0" anchor="t">
            <a:noAutofit/>
          </a:bodyPr>
          <a:lstStyle/>
          <a:p>
            <a:pPr marL="0" indent="0" algn="l">
              <a:lnSpc>
                <a:spcPts val="1439"/>
              </a:lnSpc>
              <a:buNone/>
            </a:pPr>
            <a:r>
              <a:rPr lang="en-US" sz="1200" b="1" spc="80" dirty="0">
                <a:solidFill>
                  <a:srgbClr val="F6E1E1"/>
                </a:solidFill>
                <a:latin typeface="IBM Plex Mono"/>
                <a:ea typeface="IBM Plex Mono"/>
                <a:cs typeface="IBM Plex Mono"/>
              </a:rPr>
              <a:t>TRY IT</a:t>
            </a:r>
            <a:endParaRPr lang="en-US" sz="1200" dirty="0"/>
          </a:p>
        </p:txBody>
      </p:sp>
      <p:sp>
        <p:nvSpPr>
          <p:cNvPr id="9010" name="App link">
            <a:hlinkClick r:id="rId6"/>
          </p:cNvPr>
          <p:cNvSpPr txBox="1"/>
          <p:nvPr/>
        </p:nvSpPr>
        <p:spPr>
          <a:xfrm>
            <a:off x="7543800" y="1947672"/>
            <a:ext cx="3566160" cy="777240"/>
          </a:xfrm>
          <a:prstGeom prst="rect">
            <a:avLst/>
          </a:prstGeom>
          <a:noFill/>
          <a:ln/>
        </p:spPr>
        <p:txBody>
          <a:bodyPr wrap="square" lIns="0" tIns="0" rIns="0" bIns="0" rtlCol="0" anchor="t">
            <a:noAutofit/>
          </a:bodyPr>
          <a:lstStyle/>
          <a:p>
            <a:pPr marL="0" indent="0" algn="l">
              <a:lnSpc>
                <a:spcPts val="1750"/>
              </a:lnSpc>
              <a:spcAft>
                <a:spcPts val="200"/>
              </a:spcAft>
              <a:buNone/>
            </a:pPr>
            <a:r>
              <a:rPr lang="en-US" sz="1400" b="1" dirty="0">
                <a:solidFill>
                  <a:srgbClr val="FFFFFF"/>
                </a:solidFill>
                <a:latin typeface="Plus Jakarta Sans"/>
                <a:ea typeface="Plus Jakarta Sans"/>
                <a:cs typeface="Plus Jakarta Sans"/>
              </a:rPr>
              <a:t>Live app</a:t>
            </a:r>
            <a:endParaRPr lang="en-US" sz="1400" dirty="0"/>
          </a:p>
          <a:p>
            <a:pPr marL="0" indent="0" algn="l">
              <a:lnSpc>
                <a:spcPts val="1560"/>
              </a:lnSpc>
              <a:buNone/>
            </a:pPr>
            <a:r>
              <a:rPr lang="en-US" sz="1200" dirty="0">
                <a:solidFill>
                  <a:srgbClr val="F0C9CF"/>
                </a:solidFill>
                <a:latin typeface="Plus Jakarta Sans"/>
                <a:ea typeface="Plus Jakarta Sans"/>
                <a:cs typeface="Plus Jakarta Sans"/>
              </a:rPr>
              <a:t>gentle-moss-06f3f1f0f.2.azurestaticapps.net</a:t>
            </a:r>
            <a:endParaRPr lang="en-US" sz="1200" dirty="0"/>
          </a:p>
        </p:txBody>
      </p:sp>
      <p:sp>
        <p:nvSpPr>
          <p:cNvPr id="9011" name="Repo link">
            <a:hlinkClick r:id="rId7"/>
          </p:cNvPr>
          <p:cNvSpPr txBox="1"/>
          <p:nvPr/>
        </p:nvSpPr>
        <p:spPr>
          <a:xfrm>
            <a:off x="7543800" y="2697480"/>
            <a:ext cx="3566160" cy="868680"/>
          </a:xfrm>
          <a:prstGeom prst="rect">
            <a:avLst/>
          </a:prstGeom>
          <a:noFill/>
          <a:ln/>
        </p:spPr>
        <p:txBody>
          <a:bodyPr wrap="square" lIns="0" tIns="0" rIns="0" bIns="0" rtlCol="0" anchor="t">
            <a:noAutofit/>
          </a:bodyPr>
          <a:lstStyle/>
          <a:p>
            <a:pPr marL="0" indent="0" algn="l">
              <a:lnSpc>
                <a:spcPts val="1750"/>
              </a:lnSpc>
              <a:spcAft>
                <a:spcPts val="200"/>
              </a:spcAft>
              <a:buNone/>
            </a:pPr>
            <a:r>
              <a:rPr lang="en-US" sz="1400" b="1" dirty="0">
                <a:solidFill>
                  <a:srgbClr val="FFFFFF"/>
                </a:solidFill>
                <a:latin typeface="Plus Jakarta Sans"/>
                <a:ea typeface="Plus Jakarta Sans"/>
                <a:cs typeface="Plus Jakarta Sans"/>
              </a:rPr>
              <a:t>Repository</a:t>
            </a:r>
            <a:endParaRPr lang="en-US" sz="1400" dirty="0"/>
          </a:p>
          <a:p>
            <a:pPr marL="0" indent="0" algn="l">
              <a:lnSpc>
                <a:spcPts val="1560"/>
              </a:lnSpc>
              <a:buNone/>
            </a:pPr>
            <a:r>
              <a:rPr lang="en-US" sz="1200" dirty="0">
                <a:solidFill>
                  <a:srgbClr val="F0C9CF"/>
                </a:solidFill>
                <a:latin typeface="Plus Jakarta Sans"/>
                <a:ea typeface="Plus Jakarta Sans"/>
                <a:cs typeface="Plus Jakarta Sans"/>
              </a:rPr>
              <a:t>github.com/NicolleMayol/</a:t>
            </a:r>
            <a:endParaRPr lang="en-US" sz="1200" dirty="0"/>
          </a:p>
          <a:p>
            <a:pPr marL="0" indent="0" algn="l">
              <a:lnSpc>
                <a:spcPts val="1560"/>
              </a:lnSpc>
              <a:buNone/>
            </a:pPr>
            <a:r>
              <a:rPr lang="en-US" sz="1200" dirty="0">
                <a:solidFill>
                  <a:srgbClr val="F0C9CF"/>
                </a:solidFill>
                <a:latin typeface="Plus Jakarta Sans"/>
                <a:ea typeface="Plus Jakarta Sans"/>
                <a:cs typeface="Plus Jakarta Sans"/>
              </a:rPr>
              <a:t>factored-hackathon-2026-the-trident</a:t>
            </a:r>
            <a:endParaRPr lang="en-US" sz="1200" dirty="0"/>
          </a:p>
        </p:txBody>
      </p:sp>
      <p:sp>
        <p:nvSpPr>
          <p:cNvPr id="9012" name="Navigation"/>
          <p:cNvSpPr txBox="1"/>
          <p:nvPr/>
        </p:nvSpPr>
        <p:spPr>
          <a:xfrm>
            <a:off x="7543800" y="3703320"/>
            <a:ext cx="3566160" cy="2286000"/>
          </a:xfrm>
          <a:prstGeom prst="rect">
            <a:avLst/>
          </a:prstGeom>
          <a:noFill/>
          <a:ln/>
        </p:spPr>
        <p:txBody>
          <a:bodyPr wrap="square" lIns="0" tIns="0" rIns="0" bIns="0" rtlCol="0" anchor="t">
            <a:noAutofit/>
          </a:bodyPr>
          <a:lstStyle/>
          <a:p>
            <a:pPr marL="0" indent="0" algn="l">
              <a:lnSpc>
                <a:spcPts val="1750"/>
              </a:lnSpc>
              <a:spcAft>
                <a:spcPts val="600"/>
              </a:spcAft>
              <a:buNone/>
            </a:pPr>
            <a:r>
              <a:rPr lang="en-US" sz="1400" b="1" dirty="0">
                <a:solidFill>
                  <a:srgbClr val="FFFFFF"/>
                </a:solidFill>
                <a:latin typeface="Plus Jakarta Sans"/>
                <a:ea typeface="Plus Jakarta Sans"/>
                <a:cs typeface="Plus Jakarta Sans"/>
              </a:rPr>
              <a:t>How to navigate</a:t>
            </a:r>
            <a:endParaRPr lang="en-US" sz="1400" dirty="0"/>
          </a:p>
          <a:p>
            <a:pPr marL="0" indent="0" algn="l">
              <a:lnSpc>
                <a:spcPts val="1690"/>
              </a:lnSpc>
              <a:spcAft>
                <a:spcPts val="700"/>
              </a:spcAft>
              <a:buNone/>
            </a:pPr>
            <a:r>
              <a:rPr lang="en-US" sz="1300" b="1" dirty="0">
                <a:solidFill>
                  <a:srgbClr val="F6E1E1"/>
                </a:solidFill>
                <a:latin typeface="Plus Jakarta Sans"/>
                <a:ea typeface="Plus Jakarta Sans"/>
                <a:cs typeface="Plus Jakarta Sans"/>
              </a:rPr>
              <a:t>1   </a:t>
            </a:r>
            <a:r>
              <a:rPr lang="en-US" sz="1300" dirty="0">
                <a:solidFill>
                  <a:srgbClr val="D9CCC7"/>
                </a:solidFill>
                <a:latin typeface="Plus Jakarta Sans"/>
                <a:ea typeface="Plus Jakarta Sans"/>
                <a:cs typeface="Plus Jakarta Sans"/>
              </a:rPr>
              <a:t>Home: the numbers and how it decides.</a:t>
            </a:r>
            <a:endParaRPr lang="en-US" sz="1300" dirty="0"/>
          </a:p>
          <a:p>
            <a:pPr marL="0" indent="0" algn="l">
              <a:lnSpc>
                <a:spcPts val="1690"/>
              </a:lnSpc>
              <a:spcAft>
                <a:spcPts val="700"/>
              </a:spcAft>
              <a:buNone/>
            </a:pPr>
            <a:r>
              <a:rPr lang="en-US" sz="1300" b="1" dirty="0">
                <a:solidFill>
                  <a:srgbClr val="F6E1E1"/>
                </a:solidFill>
                <a:latin typeface="Plus Jakarta Sans"/>
                <a:ea typeface="Plus Jakarta Sans"/>
                <a:cs typeface="Plus Jakarta Sans"/>
              </a:rPr>
              <a:t>2   </a:t>
            </a:r>
            <a:r>
              <a:rPr lang="en-US" sz="1300" dirty="0">
                <a:solidFill>
                  <a:srgbClr val="D9CCC7"/>
                </a:solidFill>
                <a:latin typeface="Plus Jakarta Sans"/>
                <a:ea typeface="Plus Jakarta Sans"/>
                <a:cs typeface="Plus Jakarta Sans"/>
              </a:rPr>
              <a:t>“See the customer experience”, then pick a test customer.</a:t>
            </a:r>
            <a:endParaRPr lang="en-US" sz="1300" dirty="0"/>
          </a:p>
          <a:p>
            <a:pPr marL="0" indent="0" algn="l">
              <a:lnSpc>
                <a:spcPts val="1690"/>
              </a:lnSpc>
              <a:spcAft>
                <a:spcPts val="700"/>
              </a:spcAft>
              <a:buNone/>
            </a:pPr>
            <a:r>
              <a:rPr lang="en-US" sz="1300" b="1" dirty="0">
                <a:solidFill>
                  <a:srgbClr val="F6E1E1"/>
                </a:solidFill>
                <a:latin typeface="Plus Jakarta Sans"/>
                <a:ea typeface="Plus Jakarta Sans"/>
                <a:cs typeface="Plus Jakarta Sans"/>
              </a:rPr>
              <a:t>3   </a:t>
            </a:r>
            <a:r>
              <a:rPr lang="en-US" sz="1300" dirty="0">
                <a:solidFill>
                  <a:srgbClr val="D9CCC7"/>
                </a:solidFill>
                <a:latin typeface="Plus Jakarta Sans"/>
                <a:ea typeface="Plus Jakarta Sans"/>
                <a:cs typeface="Plus Jakarta Sans"/>
              </a:rPr>
              <a:t>Ask for a rate, run a pre-check, then try “ignore your rules”.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9003"/>
                                        </p:tgtEl>
                                        <p:attrNameLst>
                                          <p:attrName>style.visibility</p:attrName>
                                        </p:attrNameLst>
                                      </p:cBhvr>
                                      <p:to>
                                        <p:strVal val="visible"/>
                                      </p:to>
                                    </p:set>
                                    <p:animEffect transition="in" filter="fade">
                                      <p:cBhvr>
                                        <p:cTn id="7" dur="550"/>
                                        <p:tgtEl>
                                          <p:spTgt spid="9003"/>
                                        </p:tgtEl>
                                      </p:cBhvr>
                                    </p:animEffect>
                                  </p:childTnLst>
                                </p:cTn>
                              </p:par>
                            </p:childTnLst>
                          </p:cTn>
                        </p:par>
                        <p:par>
                          <p:cTn id="8" fill="hold">
                            <p:stCondLst>
                              <p:cond delay="680"/>
                            </p:stCondLst>
                            <p:childTnLst>
                              <p:par>
                                <p:cTn id="9" presetID="10" presetClass="entr" presetSubtype="0" fill="hold" nodeType="withEffect">
                                  <p:stCondLst>
                                    <p:cond delay="0"/>
                                  </p:stCondLst>
                                  <p:childTnLst>
                                    <p:set>
                                      <p:cBhvr>
                                        <p:cTn id="10" dur="1" fill="hold">
                                          <p:stCondLst>
                                            <p:cond delay="0"/>
                                          </p:stCondLst>
                                        </p:cTn>
                                        <p:tgtEl>
                                          <p:spTgt spid="9004"/>
                                        </p:tgtEl>
                                        <p:attrNameLst>
                                          <p:attrName>style.visibility</p:attrName>
                                        </p:attrNameLst>
                                      </p:cBhvr>
                                      <p:to>
                                        <p:strVal val="visible"/>
                                      </p:to>
                                    </p:set>
                                    <p:animEffect transition="in" filter="fade">
                                      <p:cBhvr>
                                        <p:cTn id="11" dur="550"/>
                                        <p:tgtEl>
                                          <p:spTgt spid="9004"/>
                                        </p:tgtEl>
                                      </p:cBhvr>
                                    </p:animEffect>
                                  </p:childTnLst>
                                </p:cTn>
                              </p:par>
                            </p:childTnLst>
                          </p:cTn>
                        </p:par>
                        <p:par>
                          <p:cTn id="12" fill="hold">
                            <p:stCondLst>
                              <p:cond delay="1060"/>
                            </p:stCondLst>
                            <p:childTnLst>
                              <p:par>
                                <p:cTn id="13" presetID="10" presetClass="entr" presetSubtype="0" fill="hold" nodeType="withEffect">
                                  <p:stCondLst>
                                    <p:cond delay="0"/>
                                  </p:stCondLst>
                                  <p:childTnLst>
                                    <p:set>
                                      <p:cBhvr>
                                        <p:cTn id="14" dur="1" fill="hold">
                                          <p:stCondLst>
                                            <p:cond delay="0"/>
                                          </p:stCondLst>
                                        </p:cTn>
                                        <p:tgtEl>
                                          <p:spTgt spid="9005"/>
                                        </p:tgtEl>
                                        <p:attrNameLst>
                                          <p:attrName>style.visibility</p:attrName>
                                        </p:attrNameLst>
                                      </p:cBhvr>
                                      <p:to>
                                        <p:strVal val="visible"/>
                                      </p:to>
                                    </p:set>
                                    <p:animEffect transition="in" filter="fade">
                                      <p:cBhvr>
                                        <p:cTn id="15" dur="550"/>
                                        <p:tgtEl>
                                          <p:spTgt spid="9005"/>
                                        </p:tgtEl>
                                      </p:cBhvr>
                                    </p:animEffect>
                                  </p:childTnLst>
                                </p:cTn>
                              </p:par>
                              <p:par>
                                <p:cTn id="16" presetID="10" presetClass="entr" presetSubtype="0" fill="hold" nodeType="withEffect">
                                  <p:stCondLst>
                                    <p:cond delay="0"/>
                                  </p:stCondLst>
                                  <p:childTnLst>
                                    <p:set>
                                      <p:cBhvr>
                                        <p:cTn id="17" dur="1" fill="hold">
                                          <p:stCondLst>
                                            <p:cond delay="0"/>
                                          </p:stCondLst>
                                        </p:cTn>
                                        <p:tgtEl>
                                          <p:spTgt spid="9005"/>
                                        </p:tgtEl>
                                        <p:attrNameLst>
                                          <p:attrName>style.visibility</p:attrName>
                                        </p:attrNameLst>
                                      </p:cBhvr>
                                      <p:to>
                                        <p:strVal val="visible"/>
                                      </p:to>
                                    </p:set>
                                    <p:animEffect transition="in" filter="fade">
                                      <p:cBhvr>
                                        <p:cTn id="18" dur="550"/>
                                        <p:tgtEl>
                                          <p:spTgt spid="9005"/>
                                        </p:tgtEl>
                                      </p:cBhvr>
                                    </p:animEffect>
                                  </p:childTnLst>
                                </p:cTn>
                              </p:par>
                              <p:par>
                                <p:cTn id="19" presetID="10" presetClass="entr" presetSubtype="0" fill="hold" nodeType="withEffect">
                                  <p:stCondLst>
                                    <p:cond delay="0"/>
                                  </p:stCondLst>
                                  <p:childTnLst>
                                    <p:set>
                                      <p:cBhvr>
                                        <p:cTn id="20" dur="1" fill="hold">
                                          <p:stCondLst>
                                            <p:cond delay="0"/>
                                          </p:stCondLst>
                                        </p:cTn>
                                        <p:tgtEl>
                                          <p:spTgt spid="9006"/>
                                        </p:tgtEl>
                                        <p:attrNameLst>
                                          <p:attrName>style.visibility</p:attrName>
                                        </p:attrNameLst>
                                      </p:cBhvr>
                                      <p:to>
                                        <p:strVal val="visible"/>
                                      </p:to>
                                    </p:set>
                                    <p:animEffect transition="in" filter="fade">
                                      <p:cBhvr>
                                        <p:cTn id="21" dur="550"/>
                                        <p:tgtEl>
                                          <p:spTgt spid="9006"/>
                                        </p:tgtEl>
                                      </p:cBhvr>
                                    </p:animEffect>
                                  </p:childTnLst>
                                </p:cTn>
                              </p:par>
                              <p:par>
                                <p:cTn id="22" presetID="10" presetClass="entr" presetSubtype="0" fill="hold" nodeType="withEffect">
                                  <p:stCondLst>
                                    <p:cond delay="0"/>
                                  </p:stCondLst>
                                  <p:childTnLst>
                                    <p:set>
                                      <p:cBhvr>
                                        <p:cTn id="23" dur="1" fill="hold">
                                          <p:stCondLst>
                                            <p:cond delay="0"/>
                                          </p:stCondLst>
                                        </p:cTn>
                                        <p:tgtEl>
                                          <p:spTgt spid="9006"/>
                                        </p:tgtEl>
                                        <p:attrNameLst>
                                          <p:attrName>style.visibility</p:attrName>
                                        </p:attrNameLst>
                                      </p:cBhvr>
                                      <p:to>
                                        <p:strVal val="visible"/>
                                      </p:to>
                                    </p:set>
                                    <p:animEffect transition="in" filter="fade">
                                      <p:cBhvr>
                                        <p:cTn id="24" dur="550"/>
                                        <p:tgtEl>
                                          <p:spTgt spid="9006"/>
                                        </p:tgtEl>
                                      </p:cBhvr>
                                    </p:animEffect>
                                  </p:childTnLst>
                                </p:cTn>
                              </p:par>
                              <p:par>
                                <p:cTn id="25" presetID="10" presetClass="entr" presetSubtype="0" fill="hold" nodeType="withEffect">
                                  <p:stCondLst>
                                    <p:cond delay="0"/>
                                  </p:stCondLst>
                                  <p:childTnLst>
                                    <p:set>
                                      <p:cBhvr>
                                        <p:cTn id="26" dur="1" fill="hold">
                                          <p:stCondLst>
                                            <p:cond delay="0"/>
                                          </p:stCondLst>
                                        </p:cTn>
                                        <p:tgtEl>
                                          <p:spTgt spid="9007"/>
                                        </p:tgtEl>
                                        <p:attrNameLst>
                                          <p:attrName>style.visibility</p:attrName>
                                        </p:attrNameLst>
                                      </p:cBhvr>
                                      <p:to>
                                        <p:strVal val="visible"/>
                                      </p:to>
                                    </p:set>
                                    <p:animEffect transition="in" filter="fade">
                                      <p:cBhvr>
                                        <p:cTn id="27" dur="550"/>
                                        <p:tgtEl>
                                          <p:spTgt spid="9007"/>
                                        </p:tgtEl>
                                      </p:cBhvr>
                                    </p:animEffect>
                                  </p:childTnLst>
                                </p:cTn>
                              </p:par>
                              <p:par>
                                <p:cTn id="28" presetID="10" presetClass="entr" presetSubtype="0" fill="hold" nodeType="withEffect">
                                  <p:stCondLst>
                                    <p:cond delay="0"/>
                                  </p:stCondLst>
                                  <p:childTnLst>
                                    <p:set>
                                      <p:cBhvr>
                                        <p:cTn id="29" dur="1" fill="hold">
                                          <p:stCondLst>
                                            <p:cond delay="0"/>
                                          </p:stCondLst>
                                        </p:cTn>
                                        <p:tgtEl>
                                          <p:spTgt spid="9007"/>
                                        </p:tgtEl>
                                        <p:attrNameLst>
                                          <p:attrName>style.visibility</p:attrName>
                                        </p:attrNameLst>
                                      </p:cBhvr>
                                      <p:to>
                                        <p:strVal val="visible"/>
                                      </p:to>
                                    </p:set>
                                    <p:animEffect transition="in" filter="fade">
                                      <p:cBhvr>
                                        <p:cTn id="30" dur="550"/>
                                        <p:tgtEl>
                                          <p:spTgt spid="9007"/>
                                        </p:tgtEl>
                                      </p:cBhvr>
                                    </p:animEffect>
                                  </p:childTnLst>
                                </p:cTn>
                              </p:par>
                            </p:childTnLst>
                          </p:cTn>
                        </p:par>
                        <p:par>
                          <p:cTn id="31" fill="hold">
                            <p:stCondLst>
                              <p:cond delay="1440"/>
                            </p:stCondLst>
                            <p:childTnLst>
                              <p:par>
                                <p:cTn id="32" presetID="10" presetClass="entr" presetSubtype="0" fill="hold" nodeType="withEffect">
                                  <p:stCondLst>
                                    <p:cond delay="0"/>
                                  </p:stCondLst>
                                  <p:childTnLst>
                                    <p:set>
                                      <p:cBhvr>
                                        <p:cTn id="33" dur="1" fill="hold">
                                          <p:stCondLst>
                                            <p:cond delay="0"/>
                                          </p:stCondLst>
                                        </p:cTn>
                                        <p:tgtEl>
                                          <p:spTgt spid="9008"/>
                                        </p:tgtEl>
                                        <p:attrNameLst>
                                          <p:attrName>style.visibility</p:attrName>
                                        </p:attrNameLst>
                                      </p:cBhvr>
                                      <p:to>
                                        <p:strVal val="visible"/>
                                      </p:to>
                                    </p:set>
                                    <p:animEffect transition="in" filter="fade">
                                      <p:cBhvr>
                                        <p:cTn id="34" dur="550"/>
                                        <p:tgtEl>
                                          <p:spTgt spid="9008"/>
                                        </p:tgtEl>
                                      </p:cBhvr>
                                    </p:animEffect>
                                  </p:childTnLst>
                                </p:cTn>
                              </p:par>
                              <p:par>
                                <p:cTn id="35" presetID="10" presetClass="entr" presetSubtype="0" fill="hold" nodeType="withEffect">
                                  <p:stCondLst>
                                    <p:cond delay="0"/>
                                  </p:stCondLst>
                                  <p:childTnLst>
                                    <p:set>
                                      <p:cBhvr>
                                        <p:cTn id="36" dur="1" fill="hold">
                                          <p:stCondLst>
                                            <p:cond delay="0"/>
                                          </p:stCondLst>
                                        </p:cTn>
                                        <p:tgtEl>
                                          <p:spTgt spid="9009"/>
                                        </p:tgtEl>
                                        <p:attrNameLst>
                                          <p:attrName>style.visibility</p:attrName>
                                        </p:attrNameLst>
                                      </p:cBhvr>
                                      <p:to>
                                        <p:strVal val="visible"/>
                                      </p:to>
                                    </p:set>
                                    <p:animEffect transition="in" filter="fade">
                                      <p:cBhvr>
                                        <p:cTn id="37" dur="550"/>
                                        <p:tgtEl>
                                          <p:spTgt spid="9009"/>
                                        </p:tgtEl>
                                      </p:cBhvr>
                                    </p:animEffect>
                                  </p:childTnLst>
                                </p:cTn>
                              </p:par>
                              <p:par>
                                <p:cTn id="38" presetID="10" presetClass="entr" presetSubtype="0" fill="hold" nodeType="withEffect">
                                  <p:stCondLst>
                                    <p:cond delay="0"/>
                                  </p:stCondLst>
                                  <p:childTnLst>
                                    <p:set>
                                      <p:cBhvr>
                                        <p:cTn id="39" dur="1" fill="hold">
                                          <p:stCondLst>
                                            <p:cond delay="0"/>
                                          </p:stCondLst>
                                        </p:cTn>
                                        <p:tgtEl>
                                          <p:spTgt spid="9010"/>
                                        </p:tgtEl>
                                        <p:attrNameLst>
                                          <p:attrName>style.visibility</p:attrName>
                                        </p:attrNameLst>
                                      </p:cBhvr>
                                      <p:to>
                                        <p:strVal val="visible"/>
                                      </p:to>
                                    </p:set>
                                    <p:animEffect transition="in" filter="fade">
                                      <p:cBhvr>
                                        <p:cTn id="40" dur="550"/>
                                        <p:tgtEl>
                                          <p:spTgt spid="9010"/>
                                        </p:tgtEl>
                                      </p:cBhvr>
                                    </p:animEffect>
                                  </p:childTnLst>
                                </p:cTn>
                              </p:par>
                              <p:par>
                                <p:cTn id="41" presetID="10" presetClass="entr" presetSubtype="0" fill="hold" nodeType="withEffect">
                                  <p:stCondLst>
                                    <p:cond delay="0"/>
                                  </p:stCondLst>
                                  <p:childTnLst>
                                    <p:set>
                                      <p:cBhvr>
                                        <p:cTn id="42" dur="1" fill="hold">
                                          <p:stCondLst>
                                            <p:cond delay="0"/>
                                          </p:stCondLst>
                                        </p:cTn>
                                        <p:tgtEl>
                                          <p:spTgt spid="9011"/>
                                        </p:tgtEl>
                                        <p:attrNameLst>
                                          <p:attrName>style.visibility</p:attrName>
                                        </p:attrNameLst>
                                      </p:cBhvr>
                                      <p:to>
                                        <p:strVal val="visible"/>
                                      </p:to>
                                    </p:set>
                                    <p:animEffect transition="in" filter="fade">
                                      <p:cBhvr>
                                        <p:cTn id="43" dur="550"/>
                                        <p:tgtEl>
                                          <p:spTgt spid="9011"/>
                                        </p:tgtEl>
                                      </p:cBhvr>
                                    </p:animEffect>
                                  </p:childTnLst>
                                </p:cTn>
                              </p:par>
                              <p:par>
                                <p:cTn id="44" presetID="10" presetClass="entr" presetSubtype="0" fill="hold" nodeType="withEffect">
                                  <p:stCondLst>
                                    <p:cond delay="0"/>
                                  </p:stCondLst>
                                  <p:childTnLst>
                                    <p:set>
                                      <p:cBhvr>
                                        <p:cTn id="45" dur="1" fill="hold">
                                          <p:stCondLst>
                                            <p:cond delay="0"/>
                                          </p:stCondLst>
                                        </p:cTn>
                                        <p:tgtEl>
                                          <p:spTgt spid="9012"/>
                                        </p:tgtEl>
                                        <p:attrNameLst>
                                          <p:attrName>style.visibility</p:attrName>
                                        </p:attrNameLst>
                                      </p:cBhvr>
                                      <p:to>
                                        <p:strVal val="visible"/>
                                      </p:to>
                                    </p:set>
                                    <p:animEffect transition="in" filter="fade">
                                      <p:cBhvr>
                                        <p:cTn id="46" dur="550"/>
                                        <p:tgtEl>
                                          <p:spTgt spid="9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AF6F4"/>
        </a:solidFill>
        <a:effectLst/>
      </p:bgPr>
    </p:bg>
    <p:spTree>
      <p:nvGrpSpPr>
        <p:cNvPr id="1" name=""/>
        <p:cNvGrpSpPr/>
        <p:nvPr/>
      </p:nvGrpSpPr>
      <p:grpSpPr>
        <a:xfrm>
          <a:off x="0" y="0"/>
          <a:ext cx="0" cy="0"/>
          <a:chOff x="0" y="0"/>
          <a:chExt cx="0" cy="0"/>
        </a:xfrm>
      </p:grpSpPr>
      <p:sp>
        <p:nvSpPr>
          <p:cNvPr id="2" name="Text 0"/>
          <p:cNvSpPr/>
          <p:nvPr/>
        </p:nvSpPr>
        <p:spPr>
          <a:xfrm>
            <a:off x="812788" y="355578"/>
            <a:ext cx="6540485"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THE TRIDENT · AGENTE CRÉDITO LATAM</a:t>
            </a:r>
            <a:endParaRPr lang="en-US" sz="1200" dirty="0"/>
          </a:p>
        </p:txBody>
      </p:sp>
      <p:sp>
        <p:nvSpPr>
          <p:cNvPr id="3" name="Text 1"/>
          <p:cNvSpPr>
            <a:spLocks noGrp="1"/>
          </p:cNvSpPr>
          <p:nvPr>
            <p:ph type="title"/>
          </p:nvPr>
        </p:nvSpPr>
        <p:spPr>
          <a:xfrm>
            <a:off x="812788" y="812788"/>
            <a:ext cx="10883382" cy="1134930"/>
          </a:xfrm>
          <a:prstGeom prst="rect">
            <a:avLst/>
          </a:prstGeom>
          <a:noFill/>
          <a:ln/>
        </p:spPr>
        <p:txBody>
          <a:bodyPr wrap="square" lIns="0" tIns="0" rIns="0" bIns="0" rtlCol="0" anchor="t">
            <a:noAutofit/>
          </a:bodyPr>
          <a:lstStyle/>
          <a:p>
            <a:pPr marL="0" indent="0" algn="l">
              <a:lnSpc>
                <a:spcPts val="3520"/>
              </a:lnSpc>
              <a:buNone/>
            </a:pPr>
            <a:r>
              <a:rPr lang="en-US" sz="3200" b="1" i="0" kern="0" spc="-50" dirty="0">
                <a:solidFill>
                  <a:srgbClr val="22161A"/>
                </a:solidFill>
                <a:latin typeface="Bricolage Grotesque" pitchFamily="34" charset="0"/>
                <a:ea typeface="Bricolage Grotesque" pitchFamily="34" charset="-122"/>
                <a:cs typeface="Bricolage Grotesque" pitchFamily="34" charset="-120"/>
              </a:rPr>
              <a:t>The most repeatable contact, and where an AI must never decide</a:t>
            </a:r>
            <a:endParaRPr lang="en-US" sz="2600" dirty="0"/>
          </a:p>
        </p:txBody>
      </p:sp>
      <p:sp>
        <p:nvSpPr>
          <p:cNvPr id="4" name="Text 2"/>
          <p:cNvSpPr/>
          <p:nvPr/>
        </p:nvSpPr>
        <p:spPr>
          <a:xfrm>
            <a:off x="812788" y="2126000"/>
            <a:ext cx="1320797"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5A5F"/>
                </a:solidFill>
                <a:latin typeface="Plus Jakarta Sans" pitchFamily="34" charset="0"/>
                <a:ea typeface="Plus Jakarta Sans" pitchFamily="34" charset="-122"/>
                <a:cs typeface="Plus Jakarta Sans" pitchFamily="34" charset="-120"/>
              </a:rPr>
              <a:t>Transactions</a:t>
            </a:r>
            <a:endParaRPr lang="en-US" sz="1300" dirty="0"/>
          </a:p>
        </p:txBody>
      </p:sp>
      <p:sp>
        <p:nvSpPr>
          <p:cNvPr id="5" name="Shape 3"/>
          <p:cNvSpPr/>
          <p:nvPr/>
        </p:nvSpPr>
        <p:spPr>
          <a:xfrm>
            <a:off x="2184378" y="2101884"/>
            <a:ext cx="3809991" cy="279383"/>
          </a:xfrm>
          <a:prstGeom prst="roundRect">
            <a:avLst>
              <a:gd name="adj" fmla="val 13637"/>
            </a:avLst>
          </a:prstGeom>
          <a:solidFill>
            <a:srgbClr val="D9CCC7"/>
          </a:solidFill>
          <a:ln/>
        </p:spPr>
        <p:txBody>
          <a:bodyPr/>
          <a:lstStyle/>
          <a:p>
            <a:endParaRPr lang="en-CO"/>
          </a:p>
        </p:txBody>
      </p:sp>
      <p:sp>
        <p:nvSpPr>
          <p:cNvPr id="6" name="Text 4"/>
          <p:cNvSpPr/>
          <p:nvPr/>
        </p:nvSpPr>
        <p:spPr>
          <a:xfrm>
            <a:off x="6095964" y="2134906"/>
            <a:ext cx="1116289" cy="238739"/>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240,056 · 35%</a:t>
            </a:r>
            <a:endParaRPr lang="en-US" sz="1200" dirty="0"/>
          </a:p>
        </p:txBody>
      </p:sp>
      <p:sp>
        <p:nvSpPr>
          <p:cNvPr id="7" name="Text 5"/>
          <p:cNvSpPr/>
          <p:nvPr/>
        </p:nvSpPr>
        <p:spPr>
          <a:xfrm>
            <a:off x="812788" y="2519656"/>
            <a:ext cx="1320797" cy="25655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5C3B"/>
                </a:solidFill>
                <a:latin typeface="Plus Jakarta Sans" pitchFamily="34" charset="0"/>
                <a:ea typeface="Plus Jakarta Sans" pitchFamily="34" charset="-122"/>
                <a:cs typeface="Plus Jakarta Sans" pitchFamily="34" charset="-120"/>
              </a:rPr>
              <a:t>Product</a:t>
            </a:r>
            <a:endParaRPr lang="en-US" sz="1300" dirty="0"/>
          </a:p>
        </p:txBody>
      </p:sp>
      <p:sp>
        <p:nvSpPr>
          <p:cNvPr id="8" name="Shape 6"/>
          <p:cNvSpPr/>
          <p:nvPr/>
        </p:nvSpPr>
        <p:spPr>
          <a:xfrm>
            <a:off x="2184378" y="2495541"/>
            <a:ext cx="2393944" cy="279383"/>
          </a:xfrm>
          <a:prstGeom prst="roundRect">
            <a:avLst>
              <a:gd name="adj" fmla="val 13637"/>
            </a:avLst>
          </a:prstGeom>
          <a:solidFill>
            <a:srgbClr val="145C3B"/>
          </a:solidFill>
          <a:ln/>
        </p:spPr>
        <p:txBody>
          <a:bodyPr/>
          <a:lstStyle/>
          <a:p>
            <a:endParaRPr lang="en-CO"/>
          </a:p>
        </p:txBody>
      </p:sp>
      <p:sp>
        <p:nvSpPr>
          <p:cNvPr id="9" name="Text 7"/>
          <p:cNvSpPr/>
          <p:nvPr/>
        </p:nvSpPr>
        <p:spPr>
          <a:xfrm>
            <a:off x="4679916" y="2528563"/>
            <a:ext cx="1102212" cy="238739"/>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150,863 · 22%</a:t>
            </a:r>
            <a:endParaRPr lang="en-US" sz="1200" dirty="0"/>
          </a:p>
        </p:txBody>
      </p:sp>
      <p:sp>
        <p:nvSpPr>
          <p:cNvPr id="10" name="Text 8"/>
          <p:cNvSpPr/>
          <p:nvPr/>
        </p:nvSpPr>
        <p:spPr>
          <a:xfrm>
            <a:off x="812788" y="2913313"/>
            <a:ext cx="1320797"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5A5F"/>
                </a:solidFill>
                <a:latin typeface="Plus Jakarta Sans" pitchFamily="34" charset="0"/>
                <a:ea typeface="Plus Jakarta Sans" pitchFamily="34" charset="-122"/>
                <a:cs typeface="Plus Jakarta Sans" pitchFamily="34" charset="-120"/>
              </a:rPr>
              <a:t>Complaints</a:t>
            </a:r>
            <a:endParaRPr lang="en-US" sz="1300" dirty="0"/>
          </a:p>
        </p:txBody>
      </p:sp>
      <p:sp>
        <p:nvSpPr>
          <p:cNvPr id="11" name="Shape 9"/>
          <p:cNvSpPr/>
          <p:nvPr/>
        </p:nvSpPr>
        <p:spPr>
          <a:xfrm>
            <a:off x="2184378" y="2889198"/>
            <a:ext cx="1854199" cy="279383"/>
          </a:xfrm>
          <a:prstGeom prst="roundRect">
            <a:avLst>
              <a:gd name="adj" fmla="val 13637"/>
            </a:avLst>
          </a:prstGeom>
          <a:solidFill>
            <a:srgbClr val="D9CCC7"/>
          </a:solidFill>
          <a:ln/>
        </p:spPr>
        <p:txBody>
          <a:bodyPr/>
          <a:lstStyle/>
          <a:p>
            <a:endParaRPr lang="en-CO"/>
          </a:p>
        </p:txBody>
      </p:sp>
      <p:sp>
        <p:nvSpPr>
          <p:cNvPr id="12" name="Text 10"/>
          <p:cNvSpPr/>
          <p:nvPr/>
        </p:nvSpPr>
        <p:spPr>
          <a:xfrm>
            <a:off x="4140171" y="2922220"/>
            <a:ext cx="924272" cy="238739"/>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117,021 · 17%</a:t>
            </a:r>
            <a:endParaRPr lang="en-US" sz="1200" dirty="0"/>
          </a:p>
        </p:txBody>
      </p:sp>
      <p:sp>
        <p:nvSpPr>
          <p:cNvPr id="13" name="Text 11"/>
          <p:cNvSpPr/>
          <p:nvPr/>
        </p:nvSpPr>
        <p:spPr>
          <a:xfrm>
            <a:off x="812788" y="3306970"/>
            <a:ext cx="1320797"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5A5F"/>
                </a:solidFill>
                <a:latin typeface="Plus Jakarta Sans" pitchFamily="34" charset="0"/>
                <a:ea typeface="Plus Jakarta Sans" pitchFamily="34" charset="-122"/>
                <a:cs typeface="Plus Jakarta Sans" pitchFamily="34" charset="-120"/>
              </a:rPr>
              <a:t>Technical</a:t>
            </a:r>
            <a:endParaRPr lang="en-US" sz="1300" dirty="0"/>
          </a:p>
        </p:txBody>
      </p:sp>
      <p:sp>
        <p:nvSpPr>
          <p:cNvPr id="14" name="Shape 12"/>
          <p:cNvSpPr/>
          <p:nvPr/>
        </p:nvSpPr>
        <p:spPr>
          <a:xfrm>
            <a:off x="2184378" y="3282855"/>
            <a:ext cx="1631915" cy="279383"/>
          </a:xfrm>
          <a:prstGeom prst="roundRect">
            <a:avLst>
              <a:gd name="adj" fmla="val 13637"/>
            </a:avLst>
          </a:prstGeom>
          <a:solidFill>
            <a:srgbClr val="D9CCC7"/>
          </a:solidFill>
          <a:ln/>
        </p:spPr>
        <p:txBody>
          <a:bodyPr/>
          <a:lstStyle/>
          <a:p>
            <a:endParaRPr lang="en-CO"/>
          </a:p>
        </p:txBody>
      </p:sp>
      <p:sp>
        <p:nvSpPr>
          <p:cNvPr id="15" name="Text 13"/>
          <p:cNvSpPr/>
          <p:nvPr/>
        </p:nvSpPr>
        <p:spPr>
          <a:xfrm>
            <a:off x="3917888" y="3315876"/>
            <a:ext cx="1023300" cy="238739"/>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102,899 · 15%</a:t>
            </a:r>
            <a:endParaRPr lang="en-US" sz="1200" dirty="0"/>
          </a:p>
        </p:txBody>
      </p:sp>
      <p:sp>
        <p:nvSpPr>
          <p:cNvPr id="16" name="Text 14"/>
          <p:cNvSpPr/>
          <p:nvPr/>
        </p:nvSpPr>
        <p:spPr>
          <a:xfrm>
            <a:off x="812788" y="3700627"/>
            <a:ext cx="1320797"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5A5F"/>
                </a:solidFill>
                <a:latin typeface="Plus Jakarta Sans" pitchFamily="34" charset="0"/>
                <a:ea typeface="Plus Jakarta Sans" pitchFamily="34" charset="-122"/>
                <a:cs typeface="Plus Jakarta Sans" pitchFamily="34" charset="-120"/>
              </a:rPr>
              <a:t>Sales</a:t>
            </a:r>
            <a:endParaRPr lang="en-US" sz="1300" dirty="0"/>
          </a:p>
        </p:txBody>
      </p:sp>
      <p:sp>
        <p:nvSpPr>
          <p:cNvPr id="17" name="Shape 15"/>
          <p:cNvSpPr/>
          <p:nvPr/>
        </p:nvSpPr>
        <p:spPr>
          <a:xfrm>
            <a:off x="2184378" y="3676512"/>
            <a:ext cx="869925" cy="279383"/>
          </a:xfrm>
          <a:prstGeom prst="roundRect">
            <a:avLst>
              <a:gd name="adj" fmla="val 13637"/>
            </a:avLst>
          </a:prstGeom>
          <a:solidFill>
            <a:srgbClr val="D9CCC7"/>
          </a:solidFill>
          <a:ln/>
        </p:spPr>
        <p:txBody>
          <a:bodyPr/>
          <a:lstStyle/>
          <a:p>
            <a:endParaRPr lang="en-CO"/>
          </a:p>
        </p:txBody>
      </p:sp>
      <p:sp>
        <p:nvSpPr>
          <p:cNvPr id="18" name="Text 16"/>
          <p:cNvSpPr/>
          <p:nvPr/>
        </p:nvSpPr>
        <p:spPr>
          <a:xfrm>
            <a:off x="3155897" y="3709533"/>
            <a:ext cx="890760" cy="238739"/>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54,879 · 8%</a:t>
            </a:r>
            <a:endParaRPr lang="en-US" sz="1200" dirty="0"/>
          </a:p>
        </p:txBody>
      </p:sp>
      <p:sp>
        <p:nvSpPr>
          <p:cNvPr id="19" name="Text 17"/>
          <p:cNvSpPr/>
          <p:nvPr/>
        </p:nvSpPr>
        <p:spPr>
          <a:xfrm>
            <a:off x="812788" y="4094284"/>
            <a:ext cx="1320797"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5A5F"/>
                </a:solidFill>
                <a:latin typeface="Plus Jakarta Sans" pitchFamily="34" charset="0"/>
                <a:ea typeface="Plus Jakarta Sans" pitchFamily="34" charset="-122"/>
                <a:cs typeface="Plus Jakarta Sans" pitchFamily="34" charset="-120"/>
              </a:rPr>
              <a:t>Retention</a:t>
            </a:r>
            <a:endParaRPr lang="en-US" sz="1300" dirty="0"/>
          </a:p>
        </p:txBody>
      </p:sp>
      <p:sp>
        <p:nvSpPr>
          <p:cNvPr id="20" name="Shape 18"/>
          <p:cNvSpPr/>
          <p:nvPr/>
        </p:nvSpPr>
        <p:spPr>
          <a:xfrm>
            <a:off x="2184378" y="4070168"/>
            <a:ext cx="323839" cy="279383"/>
          </a:xfrm>
          <a:prstGeom prst="roundRect">
            <a:avLst>
              <a:gd name="adj" fmla="val 13637"/>
            </a:avLst>
          </a:prstGeom>
          <a:solidFill>
            <a:srgbClr val="D9CCC7"/>
          </a:solidFill>
          <a:ln/>
        </p:spPr>
        <p:txBody>
          <a:bodyPr/>
          <a:lstStyle/>
          <a:p>
            <a:endParaRPr lang="en-CO"/>
          </a:p>
        </p:txBody>
      </p:sp>
      <p:sp>
        <p:nvSpPr>
          <p:cNvPr id="21" name="Text 19"/>
          <p:cNvSpPr/>
          <p:nvPr/>
        </p:nvSpPr>
        <p:spPr>
          <a:xfrm>
            <a:off x="2609812" y="4103190"/>
            <a:ext cx="903855" cy="238739"/>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20,578 · 3%</a:t>
            </a:r>
            <a:endParaRPr lang="en-US" sz="1200" dirty="0"/>
          </a:p>
        </p:txBody>
      </p:sp>
      <p:sp>
        <p:nvSpPr>
          <p:cNvPr id="22" name="Shape 20"/>
          <p:cNvSpPr/>
          <p:nvPr/>
        </p:nvSpPr>
        <p:spPr>
          <a:xfrm>
            <a:off x="7775511" y="1959273"/>
            <a:ext cx="3600492" cy="2532927"/>
          </a:xfrm>
          <a:prstGeom prst="roundRect">
            <a:avLst>
              <a:gd name="adj" fmla="val 5891"/>
            </a:avLst>
          </a:prstGeom>
          <a:solidFill>
            <a:srgbClr val="FFFDFB"/>
          </a:solidFill>
          <a:ln w="6350">
            <a:solidFill>
              <a:srgbClr val="EADBD5"/>
            </a:solidFill>
            <a:prstDash val="solid"/>
          </a:ln>
        </p:spPr>
        <p:txBody>
          <a:bodyPr/>
          <a:lstStyle/>
          <a:p>
            <a:endParaRPr lang="en-CO"/>
          </a:p>
        </p:txBody>
      </p:sp>
      <p:sp>
        <p:nvSpPr>
          <p:cNvPr id="23" name="Text 21"/>
          <p:cNvSpPr/>
          <p:nvPr/>
        </p:nvSpPr>
        <p:spPr>
          <a:xfrm>
            <a:off x="8031151" y="2214913"/>
            <a:ext cx="3181888"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PRODUCT CONTACTS</a:t>
            </a:r>
            <a:endParaRPr lang="en-US" sz="1200" dirty="0"/>
          </a:p>
        </p:txBody>
      </p:sp>
      <p:sp>
        <p:nvSpPr>
          <p:cNvPr id="24" name="Text 22"/>
          <p:cNvSpPr/>
          <p:nvPr/>
        </p:nvSpPr>
        <p:spPr>
          <a:xfrm>
            <a:off x="8031151" y="2517128"/>
            <a:ext cx="3181888" cy="838188"/>
          </a:xfrm>
          <a:prstGeom prst="rect">
            <a:avLst/>
          </a:prstGeom>
          <a:noFill/>
          <a:ln/>
        </p:spPr>
        <p:txBody>
          <a:bodyPr wrap="square" lIns="0" tIns="0" rIns="0" bIns="0" rtlCol="0" anchor="t">
            <a:normAutofit/>
          </a:bodyPr>
          <a:lstStyle/>
          <a:p>
            <a:pPr marL="0" indent="0" algn="l">
              <a:lnSpc>
                <a:spcPts val="6400"/>
              </a:lnSpc>
              <a:buNone/>
            </a:pPr>
            <a:r>
              <a:rPr lang="en-US" sz="6400" b="1" dirty="0">
                <a:solidFill>
                  <a:srgbClr val="145C3B"/>
                </a:solidFill>
                <a:latin typeface="Bricolage Grotesque" pitchFamily="34" charset="0"/>
                <a:ea typeface="Bricolage Grotesque" pitchFamily="34" charset="-122"/>
                <a:cs typeface="Bricolage Grotesque" pitchFamily="34" charset="-120"/>
              </a:rPr>
              <a:t>22%</a:t>
            </a:r>
            <a:endParaRPr lang="en-US" sz="6400" dirty="0"/>
          </a:p>
        </p:txBody>
      </p:sp>
      <p:sp>
        <p:nvSpPr>
          <p:cNvPr id="25" name="Text 23"/>
          <p:cNvSpPr/>
          <p:nvPr/>
        </p:nvSpPr>
        <p:spPr>
          <a:xfrm>
            <a:off x="8031151" y="3418791"/>
            <a:ext cx="31818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161A"/>
                </a:solidFill>
                <a:latin typeface="Plus Jakarta Sans" pitchFamily="34" charset="0"/>
                <a:ea typeface="Plus Jakarta Sans" pitchFamily="34" charset="-122"/>
                <a:cs typeface="Plus Jakarta Sans" pitchFamily="34" charset="-120"/>
              </a:rPr>
              <a:t>150,863 contacts · FCR 0.896</a:t>
            </a:r>
            <a:endParaRPr lang="en-US" sz="1400" dirty="0"/>
          </a:p>
        </p:txBody>
      </p:sp>
      <p:sp>
        <p:nvSpPr>
          <p:cNvPr id="26" name="Shape 24"/>
          <p:cNvSpPr/>
          <p:nvPr/>
        </p:nvSpPr>
        <p:spPr>
          <a:xfrm>
            <a:off x="8031151" y="3756557"/>
            <a:ext cx="1544625" cy="177789"/>
          </a:xfrm>
          <a:custGeom>
            <a:avLst/>
            <a:gdLst/>
            <a:ahLst/>
            <a:cxnLst/>
            <a:rect l="l" t="t" r="r" b="b"/>
            <a:pathLst>
              <a:path w="1544625" h="177789">
                <a:moveTo>
                  <a:pt x="0" y="50800"/>
                </a:moveTo>
                <a:arcTo wR="50800" hR="50800" stAng="10800000" swAng="5400000"/>
                <a:lnTo>
                  <a:pt x="1544625" y="0"/>
                </a:lnTo>
                <a:lnTo>
                  <a:pt x="1544625" y="177789"/>
                </a:lnTo>
                <a:lnTo>
                  <a:pt x="50800" y="177789"/>
                </a:lnTo>
                <a:arcTo wR="50800" hR="50800" stAng="5400000" swAng="5400000"/>
                <a:close/>
              </a:path>
            </a:pathLst>
          </a:custGeom>
          <a:solidFill>
            <a:srgbClr val="145C3B"/>
          </a:solidFill>
          <a:ln/>
        </p:spPr>
        <p:txBody>
          <a:bodyPr/>
          <a:lstStyle/>
          <a:p>
            <a:endParaRPr lang="en-CO"/>
          </a:p>
        </p:txBody>
      </p:sp>
      <p:sp>
        <p:nvSpPr>
          <p:cNvPr id="27" name="Shape 25"/>
          <p:cNvSpPr/>
          <p:nvPr/>
        </p:nvSpPr>
        <p:spPr>
          <a:xfrm>
            <a:off x="9575775" y="3756557"/>
            <a:ext cx="926760" cy="177789"/>
          </a:xfrm>
          <a:prstGeom prst="rect">
            <a:avLst/>
          </a:prstGeom>
          <a:solidFill>
            <a:srgbClr val="5E9478"/>
          </a:solidFill>
          <a:ln/>
        </p:spPr>
        <p:txBody>
          <a:bodyPr/>
          <a:lstStyle/>
          <a:p>
            <a:endParaRPr lang="en-CO"/>
          </a:p>
        </p:txBody>
      </p:sp>
      <p:sp>
        <p:nvSpPr>
          <p:cNvPr id="28" name="Shape 26"/>
          <p:cNvSpPr/>
          <p:nvPr/>
        </p:nvSpPr>
        <p:spPr>
          <a:xfrm>
            <a:off x="10502535" y="3756557"/>
            <a:ext cx="617827" cy="177789"/>
          </a:xfrm>
          <a:custGeom>
            <a:avLst/>
            <a:gdLst/>
            <a:ahLst/>
            <a:cxnLst/>
            <a:rect l="l" t="t" r="r" b="b"/>
            <a:pathLst>
              <a:path w="617827" h="177789">
                <a:moveTo>
                  <a:pt x="567027" y="0"/>
                </a:moveTo>
                <a:arcTo wR="50800" hR="50800" stAng="16200000" swAng="5400000"/>
                <a:lnTo>
                  <a:pt x="617827" y="126989"/>
                </a:lnTo>
                <a:arcTo wR="50800" hR="50800" stAng="0" swAng="5400000"/>
                <a:lnTo>
                  <a:pt x="0" y="177789"/>
                </a:lnTo>
                <a:lnTo>
                  <a:pt x="0" y="0"/>
                </a:lnTo>
                <a:close/>
              </a:path>
            </a:pathLst>
          </a:custGeom>
          <a:solidFill>
            <a:srgbClr val="B5D2C1"/>
          </a:solidFill>
          <a:ln/>
        </p:spPr>
        <p:txBody>
          <a:bodyPr/>
          <a:lstStyle/>
          <a:p>
            <a:endParaRPr lang="en-CO"/>
          </a:p>
        </p:txBody>
      </p:sp>
      <p:sp>
        <p:nvSpPr>
          <p:cNvPr id="29" name="Text 27"/>
          <p:cNvSpPr/>
          <p:nvPr/>
        </p:nvSpPr>
        <p:spPr>
          <a:xfrm>
            <a:off x="8031151" y="4023221"/>
            <a:ext cx="1595425"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161A"/>
                </a:solidFill>
                <a:latin typeface="Plus Jakarta Sans" pitchFamily="34" charset="0"/>
                <a:ea typeface="Plus Jakarta Sans" pitchFamily="34" charset="-122"/>
                <a:cs typeface="Plus Jakarta Sans" pitchFamily="34" charset="-120"/>
              </a:rPr>
              <a:t>MX 50%</a:t>
            </a:r>
            <a:endParaRPr lang="en-US" sz="1200" dirty="0"/>
          </a:p>
        </p:txBody>
      </p:sp>
      <p:sp>
        <p:nvSpPr>
          <p:cNvPr id="30" name="Text 28"/>
          <p:cNvSpPr/>
          <p:nvPr/>
        </p:nvSpPr>
        <p:spPr>
          <a:xfrm>
            <a:off x="9575775" y="4023221"/>
            <a:ext cx="977560"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161A"/>
                </a:solidFill>
                <a:latin typeface="Plus Jakarta Sans" pitchFamily="34" charset="0"/>
                <a:ea typeface="Plus Jakarta Sans" pitchFamily="34" charset="-122"/>
                <a:cs typeface="Plus Jakarta Sans" pitchFamily="34" charset="-120"/>
              </a:rPr>
              <a:t>CO 30%</a:t>
            </a:r>
            <a:endParaRPr lang="en-US" sz="1200" dirty="0"/>
          </a:p>
        </p:txBody>
      </p:sp>
      <p:sp>
        <p:nvSpPr>
          <p:cNvPr id="31" name="Text 29"/>
          <p:cNvSpPr/>
          <p:nvPr/>
        </p:nvSpPr>
        <p:spPr>
          <a:xfrm>
            <a:off x="10502535" y="4023221"/>
            <a:ext cx="668627"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161A"/>
                </a:solidFill>
                <a:latin typeface="Plus Jakarta Sans" pitchFamily="34" charset="0"/>
                <a:ea typeface="Plus Jakarta Sans" pitchFamily="34" charset="-122"/>
                <a:cs typeface="Plus Jakarta Sans" pitchFamily="34" charset="-120"/>
              </a:rPr>
              <a:t>AR 20%</a:t>
            </a:r>
            <a:endParaRPr lang="en-US" sz="1200" dirty="0"/>
          </a:p>
        </p:txBody>
      </p:sp>
      <p:sp>
        <p:nvSpPr>
          <p:cNvPr id="32" name="Text 30">
            <a:hlinkClick r:id="rId3"/>
          </p:cNvPr>
          <p:cNvSpPr/>
          <p:nvPr/>
        </p:nvSpPr>
        <p:spPr>
          <a:xfrm>
            <a:off x="812788" y="6238278"/>
            <a:ext cx="9810728"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Source: gold.contact_demand, 2023-06-17 → 2026-06-17 · about 138 product contacts a day</a:t>
            </a:r>
            <a:endParaRPr lang="en-US" sz="1200" dirty="0"/>
          </a:p>
        </p:txBody>
      </p:sp>
      <p:sp>
        <p:nvSpPr>
          <p:cNvPr id="33" name="Text 31"/>
          <p:cNvSpPr/>
          <p:nvPr/>
        </p:nvSpPr>
        <p:spPr>
          <a:xfrm>
            <a:off x="10820409" y="6238278"/>
            <a:ext cx="558769" cy="238739"/>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2</a:t>
            </a:r>
            <a:endParaRPr lang="en-US" sz="1200" dirty="0"/>
          </a:p>
        </p:txBody>
      </p:sp>
      <p:sp>
        <p:nvSpPr>
          <p:cNvPr id="9043" name="Card · Absorb the repeatable"/>
          <p:cNvSpPr/>
          <p:nvPr/>
        </p:nvSpPr>
        <p:spPr>
          <a:xfrm>
            <a:off x="813816" y="4634250"/>
            <a:ext cx="3429000" cy="1298448"/>
          </a:xfrm>
          <a:prstGeom prst="roundRect">
            <a:avLst>
              <a:gd name="adj" fmla="val 11264"/>
            </a:avLst>
          </a:prstGeom>
          <a:solidFill>
            <a:srgbClr val="FFFDFB"/>
          </a:solidFill>
          <a:ln w="6350">
            <a:solidFill>
              <a:srgbClr val="EADBD5"/>
            </a:solidFill>
          </a:ln>
        </p:spPr>
        <p:txBody>
          <a:bodyPr/>
          <a:lstStyle/>
          <a:p>
            <a:endParaRPr lang="en-US"/>
          </a:p>
        </p:txBody>
      </p:sp>
      <p:sp>
        <p:nvSpPr>
          <p:cNvPr id="9044" name="Card text · Absorb the repeatable">
            <a:hlinkClick r:id="rId3"/>
          </p:cNvPr>
          <p:cNvSpPr txBox="1"/>
          <p:nvPr/>
        </p:nvSpPr>
        <p:spPr>
          <a:xfrm>
            <a:off x="978408" y="4753122"/>
            <a:ext cx="3099816" cy="1133856"/>
          </a:xfrm>
          <a:prstGeom prst="rect">
            <a:avLst/>
          </a:prstGeom>
          <a:noFill/>
          <a:ln/>
        </p:spPr>
        <p:txBody>
          <a:bodyPr wrap="square" lIns="0" tIns="0" rIns="0" bIns="0" rtlCol="0" anchor="t">
            <a:noAutofit/>
          </a:bodyPr>
          <a:lstStyle/>
          <a:p>
            <a:pPr marL="0" indent="0" algn="l">
              <a:lnSpc>
                <a:spcPts val="1080"/>
              </a:lnSpc>
              <a:spcAft>
                <a:spcPts val="300"/>
              </a:spcAft>
              <a:buNone/>
            </a:pPr>
            <a:r>
              <a:rPr lang="en-US" sz="900" b="1" spc="40" dirty="0">
                <a:solidFill>
                  <a:srgbClr val="145C3B"/>
                </a:solidFill>
                <a:latin typeface="IBM Plex Mono"/>
                <a:ea typeface="IBM Plex Mono"/>
                <a:cs typeface="IBM Plex Mono"/>
              </a:rPr>
              <a:t>ABSORB</a:t>
            </a:r>
            <a:endParaRPr lang="en-US" sz="900" dirty="0"/>
          </a:p>
          <a:p>
            <a:pPr marL="0" indent="0" algn="l">
              <a:lnSpc>
                <a:spcPts val="1650"/>
              </a:lnSpc>
              <a:spcAft>
                <a:spcPts val="400"/>
              </a:spcAft>
              <a:buNone/>
            </a:pPr>
            <a:r>
              <a:rPr lang="en-US" sz="1500" b="1" dirty="0">
                <a:solidFill>
                  <a:srgbClr val="22161A"/>
                </a:solidFill>
                <a:latin typeface="Plus Jakarta Sans"/>
                <a:ea typeface="Plus Jakarta Sans"/>
                <a:cs typeface="Plus Jakarta Sans"/>
              </a:rPr>
              <a:t>Absorb the repeatable</a:t>
            </a:r>
            <a:endParaRPr lang="en-US" sz="1500" dirty="0"/>
          </a:p>
          <a:p>
            <a:pPr marL="0" indent="0" algn="l">
              <a:lnSpc>
                <a:spcPts val="1403"/>
              </a:lnSpc>
              <a:buNone/>
            </a:pPr>
            <a:r>
              <a:rPr lang="en-US" sz="1150" dirty="0">
                <a:solidFill>
                  <a:srgbClr val="6B5A5F"/>
                </a:solidFill>
                <a:latin typeface="Plus Jakarta Sans"/>
                <a:ea typeface="Plus Jakarta Sans"/>
                <a:cs typeface="Plus Jakarta Sans"/>
              </a:rPr>
              <a:t>Solved on first contact 9 times in 10: the volume an assistant should take.</a:t>
            </a:r>
            <a:endParaRPr lang="en-US" sz="1150" dirty="0"/>
          </a:p>
        </p:txBody>
      </p:sp>
      <p:sp>
        <p:nvSpPr>
          <p:cNvPr id="9045" name="Card · Never decide the edge"/>
          <p:cNvSpPr/>
          <p:nvPr/>
        </p:nvSpPr>
        <p:spPr>
          <a:xfrm>
            <a:off x="4379976" y="4634250"/>
            <a:ext cx="3429000" cy="1298448"/>
          </a:xfrm>
          <a:prstGeom prst="roundRect">
            <a:avLst>
              <a:gd name="adj" fmla="val 11264"/>
            </a:avLst>
          </a:prstGeom>
          <a:solidFill>
            <a:srgbClr val="FFFDFB"/>
          </a:solidFill>
          <a:ln w="6350">
            <a:solidFill>
              <a:srgbClr val="EADBD5"/>
            </a:solidFill>
          </a:ln>
        </p:spPr>
        <p:txBody>
          <a:bodyPr/>
          <a:lstStyle/>
          <a:p>
            <a:endParaRPr lang="en-US"/>
          </a:p>
        </p:txBody>
      </p:sp>
      <p:sp>
        <p:nvSpPr>
          <p:cNvPr id="9046" name="Card text · Never decide the edge">
            <a:hlinkClick r:id="rId3"/>
          </p:cNvPr>
          <p:cNvSpPr txBox="1"/>
          <p:nvPr/>
        </p:nvSpPr>
        <p:spPr>
          <a:xfrm>
            <a:off x="4544568" y="4753122"/>
            <a:ext cx="3099816" cy="1133856"/>
          </a:xfrm>
          <a:prstGeom prst="rect">
            <a:avLst/>
          </a:prstGeom>
          <a:noFill/>
          <a:ln/>
        </p:spPr>
        <p:txBody>
          <a:bodyPr wrap="square" lIns="0" tIns="0" rIns="0" bIns="0" rtlCol="0" anchor="t">
            <a:noAutofit/>
          </a:bodyPr>
          <a:lstStyle/>
          <a:p>
            <a:pPr marL="0" indent="0" algn="l">
              <a:lnSpc>
                <a:spcPts val="1080"/>
              </a:lnSpc>
              <a:spcAft>
                <a:spcPts val="300"/>
              </a:spcAft>
              <a:buNone/>
            </a:pPr>
            <a:r>
              <a:rPr lang="en-US" sz="900" b="1" spc="40" dirty="0">
                <a:solidFill>
                  <a:srgbClr val="B0243A"/>
                </a:solidFill>
                <a:latin typeface="IBM Plex Mono"/>
                <a:ea typeface="IBM Plex Mono"/>
                <a:cs typeface="IBM Plex Mono"/>
              </a:rPr>
              <a:t>NEVER DECIDE</a:t>
            </a:r>
            <a:endParaRPr lang="en-US" sz="900" dirty="0"/>
          </a:p>
          <a:p>
            <a:pPr marL="0" indent="0" algn="l">
              <a:lnSpc>
                <a:spcPts val="1650"/>
              </a:lnSpc>
              <a:spcAft>
                <a:spcPts val="400"/>
              </a:spcAft>
              <a:buNone/>
            </a:pPr>
            <a:r>
              <a:rPr lang="en-US" sz="1500" b="1" dirty="0">
                <a:solidFill>
                  <a:srgbClr val="22161A"/>
                </a:solidFill>
                <a:latin typeface="Plus Jakarta Sans"/>
                <a:ea typeface="Plus Jakarta Sans"/>
                <a:cs typeface="Plus Jakarta Sans"/>
              </a:rPr>
              <a:t>Never decide the edge</a:t>
            </a:r>
            <a:endParaRPr lang="en-US" sz="1500" dirty="0"/>
          </a:p>
          <a:p>
            <a:pPr marL="0" indent="0" algn="l">
              <a:lnSpc>
                <a:spcPts val="1403"/>
              </a:lnSpc>
              <a:buNone/>
            </a:pPr>
            <a:r>
              <a:rPr lang="en-US" sz="1150" dirty="0">
                <a:solidFill>
                  <a:srgbClr val="6B5A5F"/>
                </a:solidFill>
                <a:latin typeface="Plus Jakarta Sans"/>
                <a:ea typeface="Plus Jakarta Sans"/>
                <a:cs typeface="Plus Jakarta Sans"/>
              </a:rPr>
              <a:t>48% of Basic customers sit near the score cutoff; 15% have no score, 20% no income.</a:t>
            </a:r>
            <a:endParaRPr lang="en-US" sz="1150" dirty="0"/>
          </a:p>
        </p:txBody>
      </p:sp>
      <p:sp>
        <p:nvSpPr>
          <p:cNvPr id="9047" name="Card · It knows when not to act"/>
          <p:cNvSpPr/>
          <p:nvPr/>
        </p:nvSpPr>
        <p:spPr>
          <a:xfrm>
            <a:off x="7946136" y="4634250"/>
            <a:ext cx="3429000" cy="1298448"/>
          </a:xfrm>
          <a:prstGeom prst="roundRect">
            <a:avLst>
              <a:gd name="adj" fmla="val 11264"/>
            </a:avLst>
          </a:prstGeom>
          <a:solidFill>
            <a:srgbClr val="22161A"/>
          </a:solidFill>
          <a:ln>
            <a:noFill/>
          </a:ln>
        </p:spPr>
        <p:txBody>
          <a:bodyPr/>
          <a:lstStyle/>
          <a:p>
            <a:endParaRPr lang="en-US"/>
          </a:p>
        </p:txBody>
      </p:sp>
      <p:sp>
        <p:nvSpPr>
          <p:cNvPr id="9048" name="Card text · It knows when not to act">
            <a:hlinkClick r:id="rId3"/>
          </p:cNvPr>
          <p:cNvSpPr txBox="1"/>
          <p:nvPr/>
        </p:nvSpPr>
        <p:spPr>
          <a:xfrm>
            <a:off x="8110728" y="4753122"/>
            <a:ext cx="3099816" cy="1133856"/>
          </a:xfrm>
          <a:prstGeom prst="rect">
            <a:avLst/>
          </a:prstGeom>
          <a:noFill/>
          <a:ln/>
        </p:spPr>
        <p:txBody>
          <a:bodyPr wrap="square" lIns="0" tIns="0" rIns="0" bIns="0" rtlCol="0" anchor="t">
            <a:noAutofit/>
          </a:bodyPr>
          <a:lstStyle/>
          <a:p>
            <a:pPr marL="0" indent="0" algn="l">
              <a:lnSpc>
                <a:spcPts val="1080"/>
              </a:lnSpc>
              <a:spcAft>
                <a:spcPts val="300"/>
              </a:spcAft>
              <a:buNone/>
            </a:pPr>
            <a:r>
              <a:rPr lang="en-US" sz="900" b="1" spc="40" dirty="0">
                <a:solidFill>
                  <a:srgbClr val="F6E1E1"/>
                </a:solidFill>
                <a:latin typeface="IBM Plex Mono"/>
                <a:ea typeface="IBM Plex Mono"/>
                <a:cs typeface="IBM Plex Mono"/>
              </a:rPr>
              <a:t>OUR CHOICE · WORKFLOW 4</a:t>
            </a:r>
            <a:endParaRPr lang="en-US" sz="900" dirty="0"/>
          </a:p>
          <a:p>
            <a:pPr marL="0" indent="0" algn="l">
              <a:lnSpc>
                <a:spcPts val="1650"/>
              </a:lnSpc>
              <a:spcAft>
                <a:spcPts val="400"/>
              </a:spcAft>
              <a:buNone/>
            </a:pPr>
            <a:r>
              <a:rPr lang="en-US" sz="1500" b="1" dirty="0">
                <a:solidFill>
                  <a:srgbClr val="FFFFFF"/>
                </a:solidFill>
                <a:latin typeface="Plus Jakarta Sans"/>
                <a:ea typeface="Plus Jakarta Sans"/>
                <a:cs typeface="Plus Jakarta Sans"/>
              </a:rPr>
              <a:t>It knows when not to act</a:t>
            </a:r>
            <a:endParaRPr lang="en-US" sz="1500" dirty="0"/>
          </a:p>
          <a:p>
            <a:pPr marL="0" indent="0" algn="l">
              <a:lnSpc>
                <a:spcPts val="1403"/>
              </a:lnSpc>
              <a:buNone/>
            </a:pPr>
            <a:r>
              <a:rPr lang="en-US" sz="1150" dirty="0">
                <a:solidFill>
                  <a:srgbClr val="D9CCC7"/>
                </a:solidFill>
                <a:latin typeface="Plus Jakarta Sans"/>
                <a:ea typeface="Plus Jakarta Sans"/>
                <a:cs typeface="Plus Jakarta Sans"/>
              </a:rPr>
              <a:t>Cited answers, a pre-check only with consent, and a person for every edge case.</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5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5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5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50"/>
                                        <p:tgtEl>
                                          <p:spTgt spid="21"/>
                                        </p:tgtEl>
                                      </p:cBhvr>
                                    </p:animEffect>
                                  </p:childTnLst>
                                </p:cTn>
                              </p:par>
                            </p:childTnLst>
                          </p:cTn>
                        </p:par>
                        <p:par>
                          <p:cTn id="59" fill="hold">
                            <p:stCondLst>
                              <p:cond delay="680"/>
                            </p:stCondLst>
                            <p:childTnLst>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5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5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5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5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5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50"/>
                                        <p:tgtEl>
                                          <p:spTgt spid="27"/>
                                        </p:tgtEl>
                                      </p:cBhvr>
                                    </p:animEffect>
                                  </p:childTnLst>
                                </p:cTn>
                              </p:par>
                              <p:par>
                                <p:cTn id="78" presetID="10" presetClass="entr" presetSubtype="0" fill="hold"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50"/>
                                        <p:tgtEl>
                                          <p:spTgt spid="28"/>
                                        </p:tgtEl>
                                      </p:cBhvr>
                                    </p:animEffect>
                                  </p:childTnLst>
                                </p:cTn>
                              </p:par>
                              <p:par>
                                <p:cTn id="81" presetID="10"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5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50"/>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50"/>
                                        <p:tgtEl>
                                          <p:spTgt spid="31"/>
                                        </p:tgtEl>
                                      </p:cBhvr>
                                    </p:animEffect>
                                  </p:childTnLst>
                                </p:cTn>
                              </p:par>
                            </p:childTnLst>
                          </p:cTn>
                        </p:par>
                        <p:par>
                          <p:cTn id="90" fill="hold">
                            <p:stCondLst>
                              <p:cond delay="1060"/>
                            </p:stCondLst>
                            <p:childTnLst>
                              <p:par>
                                <p:cTn id="91" presetID="10" presetClass="entr" presetSubtype="0" fill="hold" nodeType="withEffect">
                                  <p:stCondLst>
                                    <p:cond delay="0"/>
                                  </p:stCondLst>
                                  <p:childTnLst>
                                    <p:set>
                                      <p:cBhvr>
                                        <p:cTn id="92" dur="1" fill="hold">
                                          <p:stCondLst>
                                            <p:cond delay="0"/>
                                          </p:stCondLst>
                                        </p:cTn>
                                        <p:tgtEl>
                                          <p:spTgt spid="9043"/>
                                        </p:tgtEl>
                                        <p:attrNameLst>
                                          <p:attrName>style.visibility</p:attrName>
                                        </p:attrNameLst>
                                      </p:cBhvr>
                                      <p:to>
                                        <p:strVal val="visible"/>
                                      </p:to>
                                    </p:set>
                                    <p:animEffect transition="in" filter="fade">
                                      <p:cBhvr>
                                        <p:cTn id="93" dur="550"/>
                                        <p:tgtEl>
                                          <p:spTgt spid="9043"/>
                                        </p:tgtEl>
                                      </p:cBhvr>
                                    </p:animEffect>
                                  </p:childTnLst>
                                </p:cTn>
                              </p:par>
                              <p:par>
                                <p:cTn id="94" presetID="10" presetClass="entr" presetSubtype="0" fill="hold" nodeType="withEffect">
                                  <p:stCondLst>
                                    <p:cond delay="0"/>
                                  </p:stCondLst>
                                  <p:childTnLst>
                                    <p:set>
                                      <p:cBhvr>
                                        <p:cTn id="95" dur="1" fill="hold">
                                          <p:stCondLst>
                                            <p:cond delay="0"/>
                                          </p:stCondLst>
                                        </p:cTn>
                                        <p:tgtEl>
                                          <p:spTgt spid="9044"/>
                                        </p:tgtEl>
                                        <p:attrNameLst>
                                          <p:attrName>style.visibility</p:attrName>
                                        </p:attrNameLst>
                                      </p:cBhvr>
                                      <p:to>
                                        <p:strVal val="visible"/>
                                      </p:to>
                                    </p:set>
                                    <p:animEffect transition="in" filter="fade">
                                      <p:cBhvr>
                                        <p:cTn id="96" dur="550"/>
                                        <p:tgtEl>
                                          <p:spTgt spid="9044"/>
                                        </p:tgtEl>
                                      </p:cBhvr>
                                    </p:animEffect>
                                  </p:childTnLst>
                                </p:cTn>
                              </p:par>
                            </p:childTnLst>
                          </p:cTn>
                        </p:par>
                        <p:par>
                          <p:cTn id="97" fill="hold">
                            <p:stCondLst>
                              <p:cond delay="1440"/>
                            </p:stCondLst>
                            <p:childTnLst>
                              <p:par>
                                <p:cTn id="98" presetID="10" presetClass="entr" presetSubtype="0" fill="hold" nodeType="withEffect">
                                  <p:stCondLst>
                                    <p:cond delay="0"/>
                                  </p:stCondLst>
                                  <p:childTnLst>
                                    <p:set>
                                      <p:cBhvr>
                                        <p:cTn id="99" dur="1" fill="hold">
                                          <p:stCondLst>
                                            <p:cond delay="0"/>
                                          </p:stCondLst>
                                        </p:cTn>
                                        <p:tgtEl>
                                          <p:spTgt spid="9045"/>
                                        </p:tgtEl>
                                        <p:attrNameLst>
                                          <p:attrName>style.visibility</p:attrName>
                                        </p:attrNameLst>
                                      </p:cBhvr>
                                      <p:to>
                                        <p:strVal val="visible"/>
                                      </p:to>
                                    </p:set>
                                    <p:animEffect transition="in" filter="fade">
                                      <p:cBhvr>
                                        <p:cTn id="100" dur="550"/>
                                        <p:tgtEl>
                                          <p:spTgt spid="9045"/>
                                        </p:tgtEl>
                                      </p:cBhvr>
                                    </p:animEffect>
                                  </p:childTnLst>
                                </p:cTn>
                              </p:par>
                              <p:par>
                                <p:cTn id="101" presetID="10" presetClass="entr" presetSubtype="0" fill="hold" nodeType="withEffect">
                                  <p:stCondLst>
                                    <p:cond delay="0"/>
                                  </p:stCondLst>
                                  <p:childTnLst>
                                    <p:set>
                                      <p:cBhvr>
                                        <p:cTn id="102" dur="1" fill="hold">
                                          <p:stCondLst>
                                            <p:cond delay="0"/>
                                          </p:stCondLst>
                                        </p:cTn>
                                        <p:tgtEl>
                                          <p:spTgt spid="9046"/>
                                        </p:tgtEl>
                                        <p:attrNameLst>
                                          <p:attrName>style.visibility</p:attrName>
                                        </p:attrNameLst>
                                      </p:cBhvr>
                                      <p:to>
                                        <p:strVal val="visible"/>
                                      </p:to>
                                    </p:set>
                                    <p:animEffect transition="in" filter="fade">
                                      <p:cBhvr>
                                        <p:cTn id="103" dur="550"/>
                                        <p:tgtEl>
                                          <p:spTgt spid="9046"/>
                                        </p:tgtEl>
                                      </p:cBhvr>
                                    </p:animEffect>
                                  </p:childTnLst>
                                </p:cTn>
                              </p:par>
                            </p:childTnLst>
                          </p:cTn>
                        </p:par>
                        <p:par>
                          <p:cTn id="104" fill="hold">
                            <p:stCondLst>
                              <p:cond delay="1820"/>
                            </p:stCondLst>
                            <p:childTnLst>
                              <p:par>
                                <p:cTn id="105" presetID="10" presetClass="entr" presetSubtype="0" fill="hold" nodeType="withEffect">
                                  <p:stCondLst>
                                    <p:cond delay="0"/>
                                  </p:stCondLst>
                                  <p:childTnLst>
                                    <p:set>
                                      <p:cBhvr>
                                        <p:cTn id="106" dur="1" fill="hold">
                                          <p:stCondLst>
                                            <p:cond delay="0"/>
                                          </p:stCondLst>
                                        </p:cTn>
                                        <p:tgtEl>
                                          <p:spTgt spid="9047"/>
                                        </p:tgtEl>
                                        <p:attrNameLst>
                                          <p:attrName>style.visibility</p:attrName>
                                        </p:attrNameLst>
                                      </p:cBhvr>
                                      <p:to>
                                        <p:strVal val="visible"/>
                                      </p:to>
                                    </p:set>
                                    <p:animEffect transition="in" filter="fade">
                                      <p:cBhvr>
                                        <p:cTn id="107" dur="550"/>
                                        <p:tgtEl>
                                          <p:spTgt spid="9047"/>
                                        </p:tgtEl>
                                      </p:cBhvr>
                                    </p:animEffect>
                                  </p:childTnLst>
                                </p:cTn>
                              </p:par>
                              <p:par>
                                <p:cTn id="108" presetID="10" presetClass="entr" presetSubtype="0" fill="hold" nodeType="withEffect">
                                  <p:stCondLst>
                                    <p:cond delay="0"/>
                                  </p:stCondLst>
                                  <p:childTnLst>
                                    <p:set>
                                      <p:cBhvr>
                                        <p:cTn id="109" dur="1" fill="hold">
                                          <p:stCondLst>
                                            <p:cond delay="0"/>
                                          </p:stCondLst>
                                        </p:cTn>
                                        <p:tgtEl>
                                          <p:spTgt spid="9048"/>
                                        </p:tgtEl>
                                        <p:attrNameLst>
                                          <p:attrName>style.visibility</p:attrName>
                                        </p:attrNameLst>
                                      </p:cBhvr>
                                      <p:to>
                                        <p:strVal val="visible"/>
                                      </p:to>
                                    </p:set>
                                    <p:animEffect transition="in" filter="fade">
                                      <p:cBhvr>
                                        <p:cTn id="110" dur="550"/>
                                        <p:tgtEl>
                                          <p:spTgt spid="9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4"/>
        </a:solidFill>
        <a:effectLst/>
      </p:bgPr>
    </p:bg>
    <p:spTree>
      <p:nvGrpSpPr>
        <p:cNvPr id="1" name=""/>
        <p:cNvGrpSpPr/>
        <p:nvPr/>
      </p:nvGrpSpPr>
      <p:grpSpPr>
        <a:xfrm>
          <a:off x="0" y="0"/>
          <a:ext cx="0" cy="0"/>
          <a:chOff x="0" y="0"/>
          <a:chExt cx="0" cy="0"/>
        </a:xfrm>
      </p:grpSpPr>
      <p:sp>
        <p:nvSpPr>
          <p:cNvPr id="2" name="Text 0"/>
          <p:cNvSpPr/>
          <p:nvPr/>
        </p:nvSpPr>
        <p:spPr>
          <a:xfrm>
            <a:off x="812788" y="355578"/>
            <a:ext cx="6540485"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THE TRIDENT · AGENTE CRÉDITO LATAM</a:t>
            </a:r>
            <a:endParaRPr lang="en-US" sz="1200" dirty="0"/>
          </a:p>
        </p:txBody>
      </p:sp>
      <p:sp>
        <p:nvSpPr>
          <p:cNvPr id="3" name="Text 1"/>
          <p:cNvSpPr>
            <a:spLocks noGrp="1"/>
          </p:cNvSpPr>
          <p:nvPr>
            <p:ph type="title"/>
          </p:nvPr>
        </p:nvSpPr>
        <p:spPr>
          <a:xfrm>
            <a:off x="812788" y="812788"/>
            <a:ext cx="9810728" cy="1122627"/>
          </a:xfrm>
          <a:prstGeom prst="rect">
            <a:avLst/>
          </a:prstGeom>
          <a:noFill/>
          <a:ln/>
        </p:spPr>
        <p:txBody>
          <a:bodyPr wrap="square" lIns="0" tIns="0" rIns="0" bIns="0" rtlCol="0" anchor="t">
            <a:noAutofit/>
          </a:bodyPr>
          <a:lstStyle/>
          <a:p>
            <a:pPr marL="0" indent="0" algn="l">
              <a:lnSpc>
                <a:spcPts val="3520"/>
              </a:lnSpc>
              <a:buNone/>
            </a:pPr>
            <a:r>
              <a:rPr lang="en-US" sz="3200" b="1" i="0" kern="0" spc="-75" dirty="0">
                <a:solidFill>
                  <a:srgbClr val="22161A"/>
                </a:solidFill>
                <a:latin typeface="Bricolage Grotesque" pitchFamily="34" charset="0"/>
                <a:ea typeface="Bricolage Grotesque" pitchFamily="34" charset="-122"/>
                <a:cs typeface="Bricolage Grotesque" pitchFamily="34" charset="-120"/>
              </a:rPr>
              <a:t>The model talks. Rules decide. Every figure is cited.</a:t>
            </a:r>
            <a:endParaRPr lang="en-US" sz="4000" dirty="0"/>
          </a:p>
        </p:txBody>
      </p:sp>
      <p:sp>
        <p:nvSpPr>
          <p:cNvPr id="4" name="Shape 2"/>
          <p:cNvSpPr/>
          <p:nvPr/>
        </p:nvSpPr>
        <p:spPr>
          <a:xfrm>
            <a:off x="774697" y="1789665"/>
            <a:ext cx="1741160" cy="1992050"/>
          </a:xfrm>
          <a:prstGeom prst="roundRect">
            <a:avLst>
              <a:gd name="adj" fmla="val 7112"/>
            </a:avLst>
          </a:prstGeom>
          <a:solidFill>
            <a:srgbClr val="FFFDFB"/>
          </a:solidFill>
          <a:ln w="6350">
            <a:solidFill>
              <a:srgbClr val="EADBD5"/>
            </a:solidFill>
            <a:prstDash val="solid"/>
          </a:ln>
        </p:spPr>
        <p:txBody>
          <a:bodyPr/>
          <a:lstStyle/>
          <a:p>
            <a:endParaRPr lang="en-CO"/>
          </a:p>
        </p:txBody>
      </p:sp>
      <p:sp>
        <p:nvSpPr>
          <p:cNvPr id="5" name="Text 3"/>
          <p:cNvSpPr/>
          <p:nvPr/>
        </p:nvSpPr>
        <p:spPr>
          <a:xfrm>
            <a:off x="954141" y="1969109"/>
            <a:ext cx="1127796" cy="264136"/>
          </a:xfrm>
          <a:custGeom>
            <a:avLst/>
            <a:gdLst/>
            <a:ahLst/>
            <a:cxnLst/>
            <a:rect l="l" t="t" r="r" b="b"/>
            <a:pathLst>
              <a:path w="1127796" h="264136">
                <a:moveTo>
                  <a:pt x="132068" y="0"/>
                </a:moveTo>
                <a:lnTo>
                  <a:pt x="995728" y="0"/>
                </a:lnTo>
                <a:arcTo wR="132068" hR="132068" stAng="16200000" swAng="5400000"/>
                <a:lnTo>
                  <a:pt x="1127796" y="132068"/>
                </a:lnTo>
                <a:arcTo wR="132068" hR="132068" stAng="0" swAng="5400000"/>
                <a:lnTo>
                  <a:pt x="132068" y="264136"/>
                </a:lnTo>
                <a:arcTo wR="132068" hR="132068" stAng="5400000" swAng="5400000"/>
                <a:lnTo>
                  <a:pt x="0" y="132068"/>
                </a:lnTo>
                <a:arcTo wR="132068" hR="132068" stAng="10800000" swAng="5400000"/>
                <a:close/>
              </a:path>
            </a:pathLst>
          </a:custGeom>
          <a:solidFill>
            <a:srgbClr val="E8EEFA"/>
          </a:solidFill>
          <a:ln/>
        </p:spPr>
        <p:txBody>
          <a:bodyPr wrap="none" lIns="0" tIns="0" rIns="0" bIns="0" rtlCol="0" anchor="ctr">
            <a:normAutofit/>
          </a:bodyPr>
          <a:lstStyle/>
          <a:p>
            <a:pPr marL="0" indent="0" algn="ctr">
              <a:lnSpc>
                <a:spcPts val="1680"/>
              </a:lnSpc>
              <a:buNone/>
            </a:pPr>
            <a:r>
              <a:rPr lang="en-US" sz="1200" b="1" dirty="0">
                <a:solidFill>
                  <a:srgbClr val="1D3F8A"/>
                </a:solidFill>
                <a:latin typeface="Plus Jakarta Sans" pitchFamily="34" charset="0"/>
                <a:ea typeface="Plus Jakarta Sans" pitchFamily="34" charset="-122"/>
                <a:cs typeface="Plus Jakarta Sans" pitchFamily="34" charset="-120"/>
              </a:rPr>
              <a:t>AI + guardrail</a:t>
            </a:r>
            <a:endParaRPr lang="en-US" sz="1200" dirty="0"/>
          </a:p>
        </p:txBody>
      </p:sp>
      <p:sp>
        <p:nvSpPr>
          <p:cNvPr id="6" name="Text 4">
            <a:hlinkClick r:id="rId3"/>
          </p:cNvPr>
          <p:cNvSpPr/>
          <p:nvPr/>
        </p:nvSpPr>
        <p:spPr>
          <a:xfrm>
            <a:off x="954141" y="2334840"/>
            <a:ext cx="1433071" cy="299688"/>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22161A"/>
                </a:solidFill>
                <a:latin typeface="Plus Jakarta Sans" pitchFamily="34" charset="0"/>
                <a:ea typeface="Plus Jakarta Sans" pitchFamily="34" charset="-122"/>
                <a:cs typeface="Plus Jakarta Sans" pitchFamily="34" charset="-120"/>
              </a:rPr>
              <a:t>Understand</a:t>
            </a:r>
            <a:endParaRPr lang="en-US" sz="1800" dirty="0"/>
          </a:p>
        </p:txBody>
      </p:sp>
      <p:sp>
        <p:nvSpPr>
          <p:cNvPr id="7" name="Text 5">
            <a:hlinkClick r:id="rId3"/>
          </p:cNvPr>
          <p:cNvSpPr/>
          <p:nvPr/>
        </p:nvSpPr>
        <p:spPr>
          <a:xfrm>
            <a:off x="954141" y="2710721"/>
            <a:ext cx="1433071" cy="69406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3A3F"/>
                </a:solidFill>
                <a:latin typeface="Plus Jakarta Sans" pitchFamily="34" charset="0"/>
                <a:ea typeface="Plus Jakarta Sans" pitchFamily="34" charset="-122"/>
                <a:cs typeface="Plus Jakarta Sans" pitchFamily="34" charset="-120"/>
              </a:rPr>
              <a:t>Regex guardrail first, then Llama 3.3 70B</a:t>
            </a:r>
            <a:endParaRPr lang="en-US" sz="1300" dirty="0"/>
          </a:p>
        </p:txBody>
      </p:sp>
      <p:pic>
        <p:nvPicPr>
          <p:cNvPr id="8" name="Image 0" descr="arrow-right"/>
          <p:cNvPicPr>
            <a:picLocks noChangeAspect="1"/>
          </p:cNvPicPr>
          <p:nvPr/>
        </p:nvPicPr>
        <p:blipFill>
          <a:blip r:embed="rId4"/>
          <a:srcRect/>
          <a:stretch/>
        </p:blipFill>
        <p:spPr>
          <a:xfrm>
            <a:off x="2620626" y="2709476"/>
            <a:ext cx="253984" cy="152391"/>
          </a:xfrm>
          <a:prstGeom prst="rect">
            <a:avLst/>
          </a:prstGeom>
        </p:spPr>
      </p:pic>
      <p:sp>
        <p:nvSpPr>
          <p:cNvPr id="9" name="Shape 6"/>
          <p:cNvSpPr/>
          <p:nvPr/>
        </p:nvSpPr>
        <p:spPr>
          <a:xfrm>
            <a:off x="2979379" y="1789665"/>
            <a:ext cx="1741198" cy="1992050"/>
          </a:xfrm>
          <a:prstGeom prst="roundRect">
            <a:avLst>
              <a:gd name="adj" fmla="val 7111"/>
            </a:avLst>
          </a:prstGeom>
          <a:solidFill>
            <a:srgbClr val="FFFDFB"/>
          </a:solidFill>
          <a:ln w="6350">
            <a:solidFill>
              <a:srgbClr val="EADBD5"/>
            </a:solidFill>
            <a:prstDash val="solid"/>
          </a:ln>
        </p:spPr>
        <p:txBody>
          <a:bodyPr/>
          <a:lstStyle/>
          <a:p>
            <a:endParaRPr lang="en-CO"/>
          </a:p>
        </p:txBody>
      </p:sp>
      <p:sp>
        <p:nvSpPr>
          <p:cNvPr id="10" name="Text 7"/>
          <p:cNvSpPr/>
          <p:nvPr/>
        </p:nvSpPr>
        <p:spPr>
          <a:xfrm>
            <a:off x="3158823" y="1969109"/>
            <a:ext cx="563370" cy="264136"/>
          </a:xfrm>
          <a:custGeom>
            <a:avLst/>
            <a:gdLst/>
            <a:ahLst/>
            <a:cxnLst/>
            <a:rect l="l" t="t" r="r" b="b"/>
            <a:pathLst>
              <a:path w="563370" h="264136">
                <a:moveTo>
                  <a:pt x="132068" y="0"/>
                </a:moveTo>
                <a:lnTo>
                  <a:pt x="431302" y="0"/>
                </a:lnTo>
                <a:arcTo wR="132068" hR="132068" stAng="16200000" swAng="5400000"/>
                <a:lnTo>
                  <a:pt x="563370" y="132068"/>
                </a:lnTo>
                <a:arcTo wR="132068" hR="132068" stAng="0" swAng="5400000"/>
                <a:lnTo>
                  <a:pt x="132068" y="264136"/>
                </a:lnTo>
                <a:arcTo wR="132068" hR="132068" stAng="5400000" swAng="5400000"/>
                <a:lnTo>
                  <a:pt x="0" y="132068"/>
                </a:lnTo>
                <a:arcTo wR="132068" hR="132068" stAng="10800000" swAng="5400000"/>
                <a:close/>
              </a:path>
            </a:pathLst>
          </a:custGeom>
          <a:solidFill>
            <a:srgbClr val="E3F3EA"/>
          </a:solidFill>
          <a:ln/>
        </p:spPr>
        <p:txBody>
          <a:bodyPr wrap="none" lIns="0" tIns="0" rIns="0" bIns="0" rtlCol="0" anchor="ctr">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No AI</a:t>
            </a:r>
            <a:endParaRPr lang="en-US" sz="1200" dirty="0"/>
          </a:p>
        </p:txBody>
      </p:sp>
      <p:sp>
        <p:nvSpPr>
          <p:cNvPr id="11" name="Text 8">
            <a:hlinkClick r:id="rId5"/>
          </p:cNvPr>
          <p:cNvSpPr/>
          <p:nvPr/>
        </p:nvSpPr>
        <p:spPr>
          <a:xfrm>
            <a:off x="3158823" y="2334840"/>
            <a:ext cx="1433109" cy="299688"/>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22161A"/>
                </a:solidFill>
                <a:latin typeface="Plus Jakarta Sans" pitchFamily="34" charset="0"/>
                <a:ea typeface="Plus Jakarta Sans" pitchFamily="34" charset="-122"/>
                <a:cs typeface="Plus Jakarta Sans" pitchFamily="34" charset="-120"/>
              </a:rPr>
              <a:t>Decide</a:t>
            </a:r>
            <a:endParaRPr lang="en-US" sz="1800" dirty="0"/>
          </a:p>
        </p:txBody>
      </p:sp>
      <p:sp>
        <p:nvSpPr>
          <p:cNvPr id="12" name="Text 9">
            <a:hlinkClick r:id="rId5"/>
          </p:cNvPr>
          <p:cNvSpPr/>
          <p:nvPr/>
        </p:nvSpPr>
        <p:spPr>
          <a:xfrm>
            <a:off x="3158823" y="2710721"/>
            <a:ext cx="1433109" cy="69406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3A3F"/>
                </a:solidFill>
                <a:latin typeface="Plus Jakarta Sans" pitchFamily="34" charset="0"/>
                <a:ea typeface="Plus Jakarta Sans" pitchFamily="34" charset="-122"/>
                <a:cs typeface="Plus Jakarta Sans" pitchFamily="34" charset="-120"/>
              </a:rPr>
              <a:t>Versioned rules × scopes × country caps</a:t>
            </a:r>
            <a:endParaRPr lang="en-US" sz="1300" dirty="0"/>
          </a:p>
        </p:txBody>
      </p:sp>
      <p:pic>
        <p:nvPicPr>
          <p:cNvPr id="13" name="Image 1" descr="arrow-right"/>
          <p:cNvPicPr>
            <a:picLocks noChangeAspect="1"/>
          </p:cNvPicPr>
          <p:nvPr/>
        </p:nvPicPr>
        <p:blipFill>
          <a:blip r:embed="rId4"/>
          <a:srcRect/>
          <a:stretch/>
        </p:blipFill>
        <p:spPr>
          <a:xfrm>
            <a:off x="4825345" y="2709476"/>
            <a:ext cx="253984" cy="152391"/>
          </a:xfrm>
          <a:prstGeom prst="rect">
            <a:avLst/>
          </a:prstGeom>
        </p:spPr>
      </p:pic>
      <p:sp>
        <p:nvSpPr>
          <p:cNvPr id="14" name="Shape 10"/>
          <p:cNvSpPr/>
          <p:nvPr/>
        </p:nvSpPr>
        <p:spPr>
          <a:xfrm>
            <a:off x="5184099" y="1789665"/>
            <a:ext cx="1741198" cy="1992050"/>
          </a:xfrm>
          <a:prstGeom prst="roundRect">
            <a:avLst>
              <a:gd name="adj" fmla="val 7111"/>
            </a:avLst>
          </a:prstGeom>
          <a:solidFill>
            <a:srgbClr val="FFFDFB"/>
          </a:solidFill>
          <a:ln w="6350">
            <a:solidFill>
              <a:srgbClr val="EADBD5"/>
            </a:solidFill>
            <a:prstDash val="solid"/>
          </a:ln>
        </p:spPr>
        <p:txBody>
          <a:bodyPr/>
          <a:lstStyle/>
          <a:p>
            <a:endParaRPr lang="en-CO"/>
          </a:p>
        </p:txBody>
      </p:sp>
      <p:sp>
        <p:nvSpPr>
          <p:cNvPr id="15" name="Text 11"/>
          <p:cNvSpPr/>
          <p:nvPr/>
        </p:nvSpPr>
        <p:spPr>
          <a:xfrm>
            <a:off x="5363543" y="1969109"/>
            <a:ext cx="1242146" cy="264136"/>
          </a:xfrm>
          <a:custGeom>
            <a:avLst/>
            <a:gdLst/>
            <a:ahLst/>
            <a:cxnLst/>
            <a:rect l="l" t="t" r="r" b="b"/>
            <a:pathLst>
              <a:path w="1242146" h="264136">
                <a:moveTo>
                  <a:pt x="132068" y="0"/>
                </a:moveTo>
                <a:lnTo>
                  <a:pt x="1110078" y="0"/>
                </a:lnTo>
                <a:arcTo wR="132068" hR="132068" stAng="16200000" swAng="5400000"/>
                <a:lnTo>
                  <a:pt x="1242146" y="132068"/>
                </a:lnTo>
                <a:arcTo wR="132068" hR="132068" stAng="0" swAng="5400000"/>
                <a:lnTo>
                  <a:pt x="132068" y="264136"/>
                </a:lnTo>
                <a:arcTo wR="132068" hR="132068" stAng="5400000" swAng="5400000"/>
                <a:lnTo>
                  <a:pt x="0" y="132068"/>
                </a:lnTo>
                <a:arcTo wR="132068" hR="132068" stAng="10800000" swAng="5400000"/>
                <a:close/>
              </a:path>
            </a:pathLst>
          </a:custGeom>
          <a:solidFill>
            <a:srgbClr val="FDF1DE"/>
          </a:solidFill>
          <a:ln/>
        </p:spPr>
        <p:txBody>
          <a:bodyPr wrap="none" lIns="0" tIns="0" rIns="0" bIns="0" rtlCol="0" anchor="ctr">
            <a:normAutofit/>
          </a:bodyPr>
          <a:lstStyle/>
          <a:p>
            <a:pPr marL="0" indent="0" algn="ctr">
              <a:lnSpc>
                <a:spcPts val="1680"/>
              </a:lnSpc>
              <a:buNone/>
            </a:pPr>
            <a:r>
              <a:rPr lang="en-US" sz="1200" b="1" dirty="0">
                <a:solidFill>
                  <a:srgbClr val="7A4B00"/>
                </a:solidFill>
                <a:latin typeface="Plus Jakarta Sans" pitchFamily="34" charset="0"/>
                <a:ea typeface="Plus Jakarta Sans" pitchFamily="34" charset="-122"/>
                <a:cs typeface="Plus Jakarta Sans" pitchFamily="34" charset="-120"/>
              </a:rPr>
              <a:t>Model as input</a:t>
            </a:r>
            <a:endParaRPr lang="en-US" sz="1200" dirty="0"/>
          </a:p>
        </p:txBody>
      </p:sp>
      <p:sp>
        <p:nvSpPr>
          <p:cNvPr id="16" name="Text 12">
            <a:hlinkClick r:id="rId6"/>
          </p:cNvPr>
          <p:cNvSpPr/>
          <p:nvPr/>
        </p:nvSpPr>
        <p:spPr>
          <a:xfrm>
            <a:off x="5363543" y="2334840"/>
            <a:ext cx="1433109" cy="299688"/>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22161A"/>
                </a:solidFill>
                <a:latin typeface="Plus Jakarta Sans" pitchFamily="34" charset="0"/>
                <a:ea typeface="Plus Jakarta Sans" pitchFamily="34" charset="-122"/>
                <a:cs typeface="Plus Jakarta Sans" pitchFamily="34" charset="-120"/>
              </a:rPr>
              <a:t>Act</a:t>
            </a:r>
            <a:endParaRPr lang="en-US" sz="1800" dirty="0"/>
          </a:p>
        </p:txBody>
      </p:sp>
      <p:sp>
        <p:nvSpPr>
          <p:cNvPr id="17" name="Text 13">
            <a:hlinkClick r:id="rId6"/>
          </p:cNvPr>
          <p:cNvSpPr/>
          <p:nvPr/>
        </p:nvSpPr>
        <p:spPr>
          <a:xfrm>
            <a:off x="5363543" y="2710721"/>
            <a:ext cx="1433109" cy="91694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3A3F"/>
                </a:solidFill>
                <a:latin typeface="Plus Jakarta Sans" pitchFamily="34" charset="0"/>
                <a:ea typeface="Plus Jakarta Sans" pitchFamily="34" charset="-122"/>
                <a:cs typeface="Plus Jakarta Sans" pitchFamily="34" charset="-120"/>
              </a:rPr>
              <a:t>Typed, authorized tools; the pre-score informs</a:t>
            </a:r>
            <a:endParaRPr lang="en-US" sz="1300" dirty="0"/>
          </a:p>
        </p:txBody>
      </p:sp>
      <p:pic>
        <p:nvPicPr>
          <p:cNvPr id="18" name="Image 2" descr="arrow-right"/>
          <p:cNvPicPr>
            <a:picLocks noChangeAspect="1"/>
          </p:cNvPicPr>
          <p:nvPr/>
        </p:nvPicPr>
        <p:blipFill>
          <a:blip r:embed="rId4"/>
          <a:srcRect/>
          <a:stretch/>
        </p:blipFill>
        <p:spPr>
          <a:xfrm>
            <a:off x="7030065" y="2709476"/>
            <a:ext cx="253984" cy="152391"/>
          </a:xfrm>
          <a:prstGeom prst="rect">
            <a:avLst/>
          </a:prstGeom>
        </p:spPr>
      </p:pic>
      <p:sp>
        <p:nvSpPr>
          <p:cNvPr id="19" name="Shape 14"/>
          <p:cNvSpPr/>
          <p:nvPr/>
        </p:nvSpPr>
        <p:spPr>
          <a:xfrm>
            <a:off x="7388818" y="1789665"/>
            <a:ext cx="1741198" cy="1992050"/>
          </a:xfrm>
          <a:prstGeom prst="roundRect">
            <a:avLst>
              <a:gd name="adj" fmla="val 7111"/>
            </a:avLst>
          </a:prstGeom>
          <a:solidFill>
            <a:srgbClr val="FFFDFB"/>
          </a:solidFill>
          <a:ln w="6350">
            <a:solidFill>
              <a:srgbClr val="EADBD5"/>
            </a:solidFill>
            <a:prstDash val="solid"/>
          </a:ln>
        </p:spPr>
        <p:txBody>
          <a:bodyPr/>
          <a:lstStyle/>
          <a:p>
            <a:endParaRPr lang="en-CO"/>
          </a:p>
        </p:txBody>
      </p:sp>
      <p:sp>
        <p:nvSpPr>
          <p:cNvPr id="20" name="Text 15"/>
          <p:cNvSpPr/>
          <p:nvPr/>
        </p:nvSpPr>
        <p:spPr>
          <a:xfrm>
            <a:off x="7568263" y="1969109"/>
            <a:ext cx="563370" cy="264136"/>
          </a:xfrm>
          <a:custGeom>
            <a:avLst/>
            <a:gdLst/>
            <a:ahLst/>
            <a:cxnLst/>
            <a:rect l="l" t="t" r="r" b="b"/>
            <a:pathLst>
              <a:path w="563370" h="264136">
                <a:moveTo>
                  <a:pt x="132068" y="0"/>
                </a:moveTo>
                <a:lnTo>
                  <a:pt x="431302" y="0"/>
                </a:lnTo>
                <a:arcTo wR="132068" hR="132068" stAng="16200000" swAng="5400000"/>
                <a:lnTo>
                  <a:pt x="563370" y="132068"/>
                </a:lnTo>
                <a:arcTo wR="132068" hR="132068" stAng="0" swAng="5400000"/>
                <a:lnTo>
                  <a:pt x="132068" y="264136"/>
                </a:lnTo>
                <a:arcTo wR="132068" hR="132068" stAng="5400000" swAng="5400000"/>
                <a:lnTo>
                  <a:pt x="0" y="132068"/>
                </a:lnTo>
                <a:arcTo wR="132068" hR="132068" stAng="10800000" swAng="5400000"/>
                <a:close/>
              </a:path>
            </a:pathLst>
          </a:custGeom>
          <a:solidFill>
            <a:srgbClr val="E3F3EA"/>
          </a:solidFill>
          <a:ln/>
        </p:spPr>
        <p:txBody>
          <a:bodyPr wrap="none" lIns="0" tIns="0" rIns="0" bIns="0" rtlCol="0" anchor="ctr">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No AI</a:t>
            </a:r>
            <a:endParaRPr lang="en-US" sz="1200" dirty="0"/>
          </a:p>
        </p:txBody>
      </p:sp>
      <p:sp>
        <p:nvSpPr>
          <p:cNvPr id="21" name="Text 16">
            <a:hlinkClick r:id="rId7"/>
          </p:cNvPr>
          <p:cNvSpPr/>
          <p:nvPr/>
        </p:nvSpPr>
        <p:spPr>
          <a:xfrm>
            <a:off x="7568263" y="2334840"/>
            <a:ext cx="1433109" cy="299688"/>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22161A"/>
                </a:solidFill>
                <a:latin typeface="Plus Jakarta Sans" pitchFamily="34" charset="0"/>
                <a:ea typeface="Plus Jakarta Sans" pitchFamily="34" charset="-122"/>
                <a:cs typeface="Plus Jakarta Sans" pitchFamily="34" charset="-120"/>
              </a:rPr>
              <a:t>Verify</a:t>
            </a:r>
            <a:endParaRPr lang="en-US" sz="1800" dirty="0"/>
          </a:p>
        </p:txBody>
      </p:sp>
      <p:sp>
        <p:nvSpPr>
          <p:cNvPr id="22" name="Text 17">
            <a:hlinkClick r:id="rId7"/>
          </p:cNvPr>
          <p:cNvSpPr/>
          <p:nvPr/>
        </p:nvSpPr>
        <p:spPr>
          <a:xfrm>
            <a:off x="7568263" y="2710721"/>
            <a:ext cx="1433109" cy="47117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3A3F"/>
                </a:solidFill>
                <a:latin typeface="Plus Jakarta Sans" pitchFamily="34" charset="0"/>
                <a:ea typeface="Plus Jakarta Sans" pitchFamily="34" charset="-122"/>
                <a:cs typeface="Plus Jakarta Sans" pitchFamily="34" charset="-120"/>
              </a:rPr>
              <a:t>No citation, no figure</a:t>
            </a:r>
            <a:endParaRPr lang="en-US" sz="1300" dirty="0"/>
          </a:p>
        </p:txBody>
      </p:sp>
      <p:pic>
        <p:nvPicPr>
          <p:cNvPr id="23" name="Image 3" descr="arrow-right"/>
          <p:cNvPicPr>
            <a:picLocks noChangeAspect="1"/>
          </p:cNvPicPr>
          <p:nvPr/>
        </p:nvPicPr>
        <p:blipFill>
          <a:blip r:embed="rId4"/>
          <a:srcRect/>
          <a:stretch/>
        </p:blipFill>
        <p:spPr>
          <a:xfrm>
            <a:off x="9234786" y="2709476"/>
            <a:ext cx="253984" cy="152391"/>
          </a:xfrm>
          <a:prstGeom prst="rect">
            <a:avLst/>
          </a:prstGeom>
        </p:spPr>
      </p:pic>
      <p:sp>
        <p:nvSpPr>
          <p:cNvPr id="24" name="Shape 18"/>
          <p:cNvSpPr/>
          <p:nvPr/>
        </p:nvSpPr>
        <p:spPr>
          <a:xfrm>
            <a:off x="9593538" y="1789665"/>
            <a:ext cx="1741198" cy="1992050"/>
          </a:xfrm>
          <a:prstGeom prst="roundRect">
            <a:avLst>
              <a:gd name="adj" fmla="val 7111"/>
            </a:avLst>
          </a:prstGeom>
          <a:solidFill>
            <a:srgbClr val="22161A"/>
          </a:solidFill>
          <a:ln w="6350">
            <a:solidFill>
              <a:srgbClr val="22161A"/>
            </a:solidFill>
            <a:prstDash val="solid"/>
          </a:ln>
        </p:spPr>
        <p:txBody>
          <a:bodyPr/>
          <a:lstStyle/>
          <a:p>
            <a:endParaRPr lang="en-CO"/>
          </a:p>
        </p:txBody>
      </p:sp>
      <p:sp>
        <p:nvSpPr>
          <p:cNvPr id="25" name="Text 19"/>
          <p:cNvSpPr/>
          <p:nvPr/>
        </p:nvSpPr>
        <p:spPr>
          <a:xfrm>
            <a:off x="9772983" y="1969109"/>
            <a:ext cx="696174" cy="264136"/>
          </a:xfrm>
          <a:custGeom>
            <a:avLst/>
            <a:gdLst/>
            <a:ahLst/>
            <a:cxnLst/>
            <a:rect l="l" t="t" r="r" b="b"/>
            <a:pathLst>
              <a:path w="696174" h="264136">
                <a:moveTo>
                  <a:pt x="132068" y="0"/>
                </a:moveTo>
                <a:lnTo>
                  <a:pt x="564106" y="0"/>
                </a:lnTo>
                <a:arcTo wR="132068" hR="132068" stAng="16200000" swAng="5400000"/>
                <a:lnTo>
                  <a:pt x="696174" y="132068"/>
                </a:lnTo>
                <a:arcTo wR="132068" hR="132068" stAng="0" swAng="5400000"/>
                <a:lnTo>
                  <a:pt x="132068" y="264136"/>
                </a:lnTo>
                <a:arcTo wR="132068" hR="132068" stAng="5400000" swAng="5400000"/>
                <a:lnTo>
                  <a:pt x="0" y="132068"/>
                </a:lnTo>
                <a:arcTo wR="132068" hR="132068" stAng="10800000" swAng="5400000"/>
                <a:close/>
              </a:path>
            </a:pathLst>
          </a:custGeom>
          <a:solidFill>
            <a:srgbClr val="F6E1E1"/>
          </a:solidFill>
          <a:ln/>
        </p:spPr>
        <p:txBody>
          <a:bodyPr wrap="none" lIns="0" tIns="0" rIns="0" bIns="0" rtlCol="0" anchor="ctr">
            <a:normAutofit/>
          </a:bodyPr>
          <a:lstStyle/>
          <a:p>
            <a:pPr marL="0" indent="0" algn="ctr">
              <a:lnSpc>
                <a:spcPts val="1680"/>
              </a:lnSpc>
              <a:buNone/>
            </a:pPr>
            <a:r>
              <a:rPr lang="en-US" sz="1200" b="1" dirty="0">
                <a:solidFill>
                  <a:srgbClr val="861B2C"/>
                </a:solidFill>
                <a:latin typeface="Plus Jakarta Sans" pitchFamily="34" charset="0"/>
                <a:ea typeface="Plus Jakarta Sans" pitchFamily="34" charset="-122"/>
                <a:cs typeface="Plus Jakarta Sans" pitchFamily="34" charset="-120"/>
              </a:rPr>
              <a:t>Human</a:t>
            </a:r>
            <a:endParaRPr lang="en-US" sz="1200" dirty="0"/>
          </a:p>
        </p:txBody>
      </p:sp>
      <p:sp>
        <p:nvSpPr>
          <p:cNvPr id="26" name="Text 20">
            <a:hlinkClick r:id="rId8"/>
          </p:cNvPr>
          <p:cNvSpPr/>
          <p:nvPr/>
        </p:nvSpPr>
        <p:spPr>
          <a:xfrm>
            <a:off x="9772983" y="2334840"/>
            <a:ext cx="1433109" cy="299688"/>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FAF6F4"/>
                </a:solidFill>
                <a:latin typeface="Plus Jakarta Sans" pitchFamily="34" charset="0"/>
                <a:ea typeface="Plus Jakarta Sans" pitchFamily="34" charset="-122"/>
                <a:cs typeface="Plus Jakarta Sans" pitchFamily="34" charset="-120"/>
              </a:rPr>
              <a:t>Escalate</a:t>
            </a:r>
            <a:endParaRPr lang="en-US" sz="1800" dirty="0"/>
          </a:p>
        </p:txBody>
      </p:sp>
      <p:sp>
        <p:nvSpPr>
          <p:cNvPr id="27" name="Text 21">
            <a:hlinkClick r:id="rId8"/>
          </p:cNvPr>
          <p:cNvSpPr/>
          <p:nvPr/>
        </p:nvSpPr>
        <p:spPr>
          <a:xfrm>
            <a:off x="9772983" y="2710721"/>
            <a:ext cx="1433109" cy="69406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6D8D4"/>
                </a:solidFill>
                <a:latin typeface="Plus Jakarta Sans" pitchFamily="34" charset="0"/>
                <a:ea typeface="Plus Jakarta Sans" pitchFamily="34" charset="-122"/>
                <a:cs typeface="Plus Jakarta Sans" pitchFamily="34" charset="-120"/>
              </a:rPr>
              <a:t>Handoff with full context and reason</a:t>
            </a:r>
            <a:endParaRPr lang="en-US" sz="1300" dirty="0"/>
          </a:p>
        </p:txBody>
      </p:sp>
      <p:sp>
        <p:nvSpPr>
          <p:cNvPr id="28" name="Text 22">
            <a:hlinkClick r:id="rId9"/>
          </p:cNvPr>
          <p:cNvSpPr/>
          <p:nvPr/>
        </p:nvSpPr>
        <p:spPr>
          <a:xfrm>
            <a:off x="812788" y="6238278"/>
            <a:ext cx="9810728"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LangGraph on Azure Functions · versioned YAML rules in policy/ · rate caps: SFC (CO), Banxico (MX), BCRA (AR)</a:t>
            </a:r>
            <a:endParaRPr lang="en-US" sz="1200" dirty="0"/>
          </a:p>
        </p:txBody>
      </p:sp>
      <p:sp>
        <p:nvSpPr>
          <p:cNvPr id="29" name="Text 23"/>
          <p:cNvSpPr/>
          <p:nvPr/>
        </p:nvSpPr>
        <p:spPr>
          <a:xfrm>
            <a:off x="10820409" y="6238278"/>
            <a:ext cx="558769" cy="238739"/>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3</a:t>
            </a:r>
            <a:endParaRPr lang="en-US" sz="1200" dirty="0"/>
          </a:p>
        </p:txBody>
      </p:sp>
      <p:sp>
        <p:nvSpPr>
          <p:cNvPr id="9013" name="Users label"/>
          <p:cNvSpPr txBox="1"/>
          <p:nvPr/>
        </p:nvSpPr>
        <p:spPr>
          <a:xfrm>
            <a:off x="813816" y="4526280"/>
            <a:ext cx="8229600" cy="256032"/>
          </a:xfrm>
          <a:prstGeom prst="rect">
            <a:avLst/>
          </a:prstGeom>
          <a:noFill/>
          <a:ln/>
        </p:spPr>
        <p:txBody>
          <a:bodyPr wrap="square" lIns="0" tIns="0" rIns="0" bIns="0" rtlCol="0" anchor="t">
            <a:noAutofit/>
          </a:bodyPr>
          <a:lstStyle/>
          <a:p>
            <a:pPr marL="0" indent="0" algn="l">
              <a:lnSpc>
                <a:spcPts val="1320"/>
              </a:lnSpc>
              <a:buNone/>
            </a:pPr>
            <a:r>
              <a:rPr lang="en-US" sz="1100" spc="60" dirty="0">
                <a:solidFill>
                  <a:srgbClr val="B0243A"/>
                </a:solidFill>
                <a:latin typeface="IBM Plex Mono"/>
                <a:ea typeface="IBM Plex Mono"/>
                <a:cs typeface="IBM Plex Mono"/>
              </a:rPr>
              <a:t>WHAT THE BANK SWITCHES ON · WHO GETS WHAT</a:t>
            </a:r>
            <a:endParaRPr lang="en-US" sz="1100" dirty="0"/>
          </a:p>
        </p:txBody>
      </p:sp>
      <p:sp>
        <p:nvSpPr>
          <p:cNvPr id="9014" name="User card · Customer"/>
          <p:cNvSpPr/>
          <p:nvPr/>
        </p:nvSpPr>
        <p:spPr>
          <a:xfrm>
            <a:off x="813816" y="4800600"/>
            <a:ext cx="3337560" cy="1234440"/>
          </a:xfrm>
          <a:prstGeom prst="roundRect">
            <a:avLst>
              <a:gd name="adj" fmla="val 11264"/>
            </a:avLst>
          </a:prstGeom>
          <a:solidFill>
            <a:srgbClr val="FFFDFB"/>
          </a:solidFill>
          <a:ln w="6350">
            <a:solidFill>
              <a:srgbClr val="EADBD5"/>
            </a:solidFill>
          </a:ln>
        </p:spPr>
        <p:txBody>
          <a:bodyPr/>
          <a:lstStyle/>
          <a:p>
            <a:endParaRPr lang="en-US"/>
          </a:p>
        </p:txBody>
      </p:sp>
      <p:sp>
        <p:nvSpPr>
          <p:cNvPr id="9015" name="User · Customer"/>
          <p:cNvSpPr txBox="1"/>
          <p:nvPr/>
        </p:nvSpPr>
        <p:spPr>
          <a:xfrm>
            <a:off x="1014984" y="4937760"/>
            <a:ext cx="2935224" cy="274320"/>
          </a:xfrm>
          <a:prstGeom prst="rect">
            <a:avLst/>
          </a:prstGeom>
          <a:noFill/>
          <a:ln/>
        </p:spPr>
        <p:txBody>
          <a:bodyPr wrap="square" lIns="0" tIns="0" rIns="0" bIns="0" rtlCol="0" anchor="t">
            <a:noAutofit/>
          </a:bodyPr>
          <a:lstStyle/>
          <a:p>
            <a:pPr marL="0" indent="0" algn="l">
              <a:lnSpc>
                <a:spcPts val="1920"/>
              </a:lnSpc>
              <a:buNone/>
            </a:pPr>
            <a:r>
              <a:rPr lang="en-US" sz="1600" b="1" dirty="0">
                <a:solidFill>
                  <a:srgbClr val="145C3B"/>
                </a:solidFill>
                <a:latin typeface="Plus Jakarta Sans"/>
                <a:ea typeface="Plus Jakarta Sans"/>
                <a:cs typeface="Plus Jakarta Sans"/>
              </a:rPr>
              <a:t>Customer</a:t>
            </a:r>
            <a:endParaRPr lang="en-US" sz="1600" dirty="0"/>
          </a:p>
        </p:txBody>
      </p:sp>
      <p:sp>
        <p:nvSpPr>
          <p:cNvPr id="9016" name="User text · Customer"/>
          <p:cNvSpPr txBox="1"/>
          <p:nvPr/>
        </p:nvSpPr>
        <p:spPr>
          <a:xfrm>
            <a:off x="1014984" y="5257800"/>
            <a:ext cx="2935224" cy="731520"/>
          </a:xfrm>
          <a:prstGeom prst="rect">
            <a:avLst/>
          </a:prstGeom>
          <a:noFill/>
          <a:ln/>
        </p:spPr>
        <p:txBody>
          <a:bodyPr wrap="square" lIns="0" tIns="0" rIns="0" bIns="0" rtlCol="0" anchor="t">
            <a:noAutofit/>
          </a:bodyPr>
          <a:lstStyle/>
          <a:p>
            <a:pPr marL="0" indent="0" algn="l">
              <a:lnSpc>
                <a:spcPts val="1690"/>
              </a:lnSpc>
              <a:buNone/>
            </a:pPr>
            <a:r>
              <a:rPr lang="en-US" sz="1300" dirty="0">
                <a:solidFill>
                  <a:srgbClr val="6B5A5F"/>
                </a:solidFill>
                <a:latin typeface="Plus Jakarta Sans"/>
                <a:ea typeface="Plus Jakarta Sans"/>
                <a:cs typeface="Plus Jakarta Sans"/>
              </a:rPr>
              <a:t>Cited answers in Spanish or Portuguese; a pre-check only with consent</a:t>
            </a:r>
            <a:endParaRPr lang="en-US" sz="1300" dirty="0"/>
          </a:p>
        </p:txBody>
      </p:sp>
      <p:sp>
        <p:nvSpPr>
          <p:cNvPr id="9017" name="User card · Analyst"/>
          <p:cNvSpPr/>
          <p:nvPr/>
        </p:nvSpPr>
        <p:spPr>
          <a:xfrm>
            <a:off x="4425696" y="4800600"/>
            <a:ext cx="3337560" cy="1234440"/>
          </a:xfrm>
          <a:prstGeom prst="roundRect">
            <a:avLst>
              <a:gd name="adj" fmla="val 11264"/>
            </a:avLst>
          </a:prstGeom>
          <a:solidFill>
            <a:srgbClr val="FFFDFB"/>
          </a:solidFill>
          <a:ln w="6350">
            <a:solidFill>
              <a:srgbClr val="EADBD5"/>
            </a:solidFill>
          </a:ln>
        </p:spPr>
        <p:txBody>
          <a:bodyPr/>
          <a:lstStyle/>
          <a:p>
            <a:endParaRPr lang="en-US"/>
          </a:p>
        </p:txBody>
      </p:sp>
      <p:sp>
        <p:nvSpPr>
          <p:cNvPr id="9018" name="User · Analyst"/>
          <p:cNvSpPr txBox="1"/>
          <p:nvPr/>
        </p:nvSpPr>
        <p:spPr>
          <a:xfrm>
            <a:off x="4626864" y="4937760"/>
            <a:ext cx="2935224" cy="274320"/>
          </a:xfrm>
          <a:prstGeom prst="rect">
            <a:avLst/>
          </a:prstGeom>
          <a:noFill/>
          <a:ln/>
        </p:spPr>
        <p:txBody>
          <a:bodyPr wrap="square" lIns="0" tIns="0" rIns="0" bIns="0" rtlCol="0" anchor="t">
            <a:noAutofit/>
          </a:bodyPr>
          <a:lstStyle/>
          <a:p>
            <a:pPr marL="0" indent="0" algn="l">
              <a:lnSpc>
                <a:spcPts val="1920"/>
              </a:lnSpc>
              <a:buNone/>
            </a:pPr>
            <a:r>
              <a:rPr lang="en-US" sz="1600" b="1" dirty="0">
                <a:solidFill>
                  <a:srgbClr val="1D3F8A"/>
                </a:solidFill>
                <a:latin typeface="Plus Jakarta Sans"/>
                <a:ea typeface="Plus Jakarta Sans"/>
                <a:cs typeface="Plus Jakarta Sans"/>
              </a:rPr>
              <a:t>Analyst</a:t>
            </a:r>
            <a:endParaRPr lang="en-US" sz="1600" dirty="0"/>
          </a:p>
        </p:txBody>
      </p:sp>
      <p:sp>
        <p:nvSpPr>
          <p:cNvPr id="9019" name="User text · Analyst">
            <a:hlinkClick r:id="rId8"/>
          </p:cNvPr>
          <p:cNvSpPr txBox="1"/>
          <p:nvPr/>
        </p:nvSpPr>
        <p:spPr>
          <a:xfrm>
            <a:off x="4626864" y="5257800"/>
            <a:ext cx="2935224" cy="731520"/>
          </a:xfrm>
          <a:prstGeom prst="rect">
            <a:avLst/>
          </a:prstGeom>
          <a:noFill/>
          <a:ln/>
        </p:spPr>
        <p:txBody>
          <a:bodyPr wrap="square" lIns="0" tIns="0" rIns="0" bIns="0" rtlCol="0" anchor="t">
            <a:noAutofit/>
          </a:bodyPr>
          <a:lstStyle/>
          <a:p>
            <a:pPr marL="0" indent="0" algn="l">
              <a:lnSpc>
                <a:spcPts val="1690"/>
              </a:lnSpc>
              <a:buNone/>
            </a:pPr>
            <a:r>
              <a:rPr lang="en-US" sz="1300" dirty="0">
                <a:solidFill>
                  <a:srgbClr val="6B5A5F"/>
                </a:solidFill>
                <a:latin typeface="Plus Jakarta Sans"/>
                <a:ea typeface="Plus Jakarta Sans"/>
                <a:cs typeface="Plus Jakarta Sans"/>
              </a:rPr>
              <a:t>Escalated cases arrive with summary, verified facts and reason</a:t>
            </a:r>
            <a:endParaRPr lang="en-US" sz="1300" dirty="0"/>
          </a:p>
        </p:txBody>
      </p:sp>
      <p:sp>
        <p:nvSpPr>
          <p:cNvPr id="9020" name="User card · Bank"/>
          <p:cNvSpPr/>
          <p:nvPr/>
        </p:nvSpPr>
        <p:spPr>
          <a:xfrm>
            <a:off x="8037576" y="4800600"/>
            <a:ext cx="3337560" cy="1234440"/>
          </a:xfrm>
          <a:prstGeom prst="roundRect">
            <a:avLst>
              <a:gd name="adj" fmla="val 11264"/>
            </a:avLst>
          </a:prstGeom>
          <a:solidFill>
            <a:srgbClr val="FFFDFB"/>
          </a:solidFill>
          <a:ln w="6350">
            <a:solidFill>
              <a:srgbClr val="EADBD5"/>
            </a:solidFill>
          </a:ln>
        </p:spPr>
        <p:txBody>
          <a:bodyPr/>
          <a:lstStyle/>
          <a:p>
            <a:endParaRPr lang="en-US"/>
          </a:p>
        </p:txBody>
      </p:sp>
      <p:sp>
        <p:nvSpPr>
          <p:cNvPr id="9021" name="User · Bank"/>
          <p:cNvSpPr txBox="1"/>
          <p:nvPr/>
        </p:nvSpPr>
        <p:spPr>
          <a:xfrm>
            <a:off x="8238744" y="4937760"/>
            <a:ext cx="2935224" cy="274320"/>
          </a:xfrm>
          <a:prstGeom prst="rect">
            <a:avLst/>
          </a:prstGeom>
          <a:noFill/>
          <a:ln/>
        </p:spPr>
        <p:txBody>
          <a:bodyPr wrap="square" lIns="0" tIns="0" rIns="0" bIns="0" rtlCol="0" anchor="t">
            <a:noAutofit/>
          </a:bodyPr>
          <a:lstStyle/>
          <a:p>
            <a:pPr marL="0" indent="0" algn="l">
              <a:lnSpc>
                <a:spcPts val="1920"/>
              </a:lnSpc>
              <a:buNone/>
            </a:pPr>
            <a:r>
              <a:rPr lang="en-US" sz="1600" b="1" dirty="0">
                <a:solidFill>
                  <a:srgbClr val="22161A"/>
                </a:solidFill>
                <a:latin typeface="Plus Jakarta Sans"/>
                <a:ea typeface="Plus Jakarta Sans"/>
                <a:cs typeface="Plus Jakarta Sans"/>
              </a:rPr>
              <a:t>Bank</a:t>
            </a:r>
            <a:endParaRPr lang="en-US" sz="1600" dirty="0"/>
          </a:p>
        </p:txBody>
      </p:sp>
      <p:sp>
        <p:nvSpPr>
          <p:cNvPr id="9022" name="User text · Bank">
            <a:hlinkClick r:id="rId5"/>
          </p:cNvPr>
          <p:cNvSpPr txBox="1"/>
          <p:nvPr/>
        </p:nvSpPr>
        <p:spPr>
          <a:xfrm>
            <a:off x="8238744" y="5257800"/>
            <a:ext cx="2935224" cy="731520"/>
          </a:xfrm>
          <a:prstGeom prst="rect">
            <a:avLst/>
          </a:prstGeom>
          <a:noFill/>
          <a:ln/>
        </p:spPr>
        <p:txBody>
          <a:bodyPr wrap="square" lIns="0" tIns="0" rIns="0" bIns="0" rtlCol="0" anchor="t">
            <a:noAutofit/>
          </a:bodyPr>
          <a:lstStyle/>
          <a:p>
            <a:pPr marL="0" indent="0" algn="l">
              <a:lnSpc>
                <a:spcPts val="1690"/>
              </a:lnSpc>
              <a:buNone/>
            </a:pPr>
            <a:r>
              <a:rPr lang="en-US" sz="1300" dirty="0">
                <a:solidFill>
                  <a:srgbClr val="6B5A5F"/>
                </a:solidFill>
                <a:latin typeface="Plus Jakarta Sans"/>
                <a:ea typeface="Plus Jakarta Sans"/>
                <a:cs typeface="Plus Jakarta Sans"/>
              </a:rPr>
              <a:t>Versioned rules, country rate caps, every turn traced</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childTnLst>
                                </p:cTn>
                              </p:par>
                            </p:childTnLst>
                          </p:cTn>
                        </p:par>
                        <p:par>
                          <p:cTn id="17" fill="hold">
                            <p:stCondLst>
                              <p:cond delay="680"/>
                            </p:stCondLst>
                            <p:childTnLst>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childTnLst>
                          </p:cTn>
                        </p:par>
                        <p:par>
                          <p:cTn id="33" fill="hold">
                            <p:stCondLst>
                              <p:cond delay="1060"/>
                            </p:stCondLst>
                            <p:childTnLst>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5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5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5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5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50"/>
                                        <p:tgtEl>
                                          <p:spTgt spid="17"/>
                                        </p:tgtEl>
                                      </p:cBhvr>
                                    </p:animEffect>
                                  </p:childTnLst>
                                </p:cTn>
                              </p:par>
                            </p:childTnLst>
                          </p:cTn>
                        </p:par>
                        <p:par>
                          <p:cTn id="49" fill="hold">
                            <p:stCondLst>
                              <p:cond delay="1440"/>
                            </p:stCondLst>
                            <p:childTnLst>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5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5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5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50"/>
                                        <p:tgtEl>
                                          <p:spTgt spid="22"/>
                                        </p:tgtEl>
                                      </p:cBhvr>
                                    </p:animEffect>
                                  </p:childTnLst>
                                </p:cTn>
                              </p:par>
                            </p:childTnLst>
                          </p:cTn>
                        </p:par>
                        <p:par>
                          <p:cTn id="65" fill="hold">
                            <p:stCondLst>
                              <p:cond delay="1820"/>
                            </p:stCondLst>
                            <p:childTnLst>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5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5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5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5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50"/>
                                        <p:tgtEl>
                                          <p:spTgt spid="27"/>
                                        </p:tgtEl>
                                      </p:cBhvr>
                                    </p:animEffect>
                                  </p:childTnLst>
                                </p:cTn>
                              </p:par>
                            </p:childTnLst>
                          </p:cTn>
                        </p:par>
                        <p:par>
                          <p:cTn id="81" fill="hold">
                            <p:stCondLst>
                              <p:cond delay="2200"/>
                            </p:stCondLst>
                            <p:childTnLst>
                              <p:par>
                                <p:cTn id="82" presetID="10" presetClass="entr" presetSubtype="0" fill="hold" nodeType="withEffect">
                                  <p:stCondLst>
                                    <p:cond delay="0"/>
                                  </p:stCondLst>
                                  <p:childTnLst>
                                    <p:set>
                                      <p:cBhvr>
                                        <p:cTn id="83" dur="1" fill="hold">
                                          <p:stCondLst>
                                            <p:cond delay="0"/>
                                          </p:stCondLst>
                                        </p:cTn>
                                        <p:tgtEl>
                                          <p:spTgt spid="9013"/>
                                        </p:tgtEl>
                                        <p:attrNameLst>
                                          <p:attrName>style.visibility</p:attrName>
                                        </p:attrNameLst>
                                      </p:cBhvr>
                                      <p:to>
                                        <p:strVal val="visible"/>
                                      </p:to>
                                    </p:set>
                                    <p:animEffect transition="in" filter="fade">
                                      <p:cBhvr>
                                        <p:cTn id="84" dur="550"/>
                                        <p:tgtEl>
                                          <p:spTgt spid="9013"/>
                                        </p:tgtEl>
                                      </p:cBhvr>
                                    </p:animEffect>
                                  </p:childTnLst>
                                </p:cTn>
                              </p:par>
                              <p:par>
                                <p:cTn id="85" presetID="10" presetClass="entr" presetSubtype="0" fill="hold" nodeType="withEffect">
                                  <p:stCondLst>
                                    <p:cond delay="0"/>
                                  </p:stCondLst>
                                  <p:childTnLst>
                                    <p:set>
                                      <p:cBhvr>
                                        <p:cTn id="86" dur="1" fill="hold">
                                          <p:stCondLst>
                                            <p:cond delay="0"/>
                                          </p:stCondLst>
                                        </p:cTn>
                                        <p:tgtEl>
                                          <p:spTgt spid="9014"/>
                                        </p:tgtEl>
                                        <p:attrNameLst>
                                          <p:attrName>style.visibility</p:attrName>
                                        </p:attrNameLst>
                                      </p:cBhvr>
                                      <p:to>
                                        <p:strVal val="visible"/>
                                      </p:to>
                                    </p:set>
                                    <p:animEffect transition="in" filter="fade">
                                      <p:cBhvr>
                                        <p:cTn id="87" dur="550"/>
                                        <p:tgtEl>
                                          <p:spTgt spid="9014"/>
                                        </p:tgtEl>
                                      </p:cBhvr>
                                    </p:animEffect>
                                  </p:childTnLst>
                                </p:cTn>
                              </p:par>
                              <p:par>
                                <p:cTn id="88" presetID="10" presetClass="entr" presetSubtype="0" fill="hold" nodeType="withEffect">
                                  <p:stCondLst>
                                    <p:cond delay="0"/>
                                  </p:stCondLst>
                                  <p:childTnLst>
                                    <p:set>
                                      <p:cBhvr>
                                        <p:cTn id="89" dur="1" fill="hold">
                                          <p:stCondLst>
                                            <p:cond delay="0"/>
                                          </p:stCondLst>
                                        </p:cTn>
                                        <p:tgtEl>
                                          <p:spTgt spid="9015"/>
                                        </p:tgtEl>
                                        <p:attrNameLst>
                                          <p:attrName>style.visibility</p:attrName>
                                        </p:attrNameLst>
                                      </p:cBhvr>
                                      <p:to>
                                        <p:strVal val="visible"/>
                                      </p:to>
                                    </p:set>
                                    <p:animEffect transition="in" filter="fade">
                                      <p:cBhvr>
                                        <p:cTn id="90" dur="550"/>
                                        <p:tgtEl>
                                          <p:spTgt spid="9015"/>
                                        </p:tgtEl>
                                      </p:cBhvr>
                                    </p:animEffect>
                                  </p:childTnLst>
                                </p:cTn>
                              </p:par>
                              <p:par>
                                <p:cTn id="91" presetID="10" presetClass="entr" presetSubtype="0" fill="hold" nodeType="withEffect">
                                  <p:stCondLst>
                                    <p:cond delay="0"/>
                                  </p:stCondLst>
                                  <p:childTnLst>
                                    <p:set>
                                      <p:cBhvr>
                                        <p:cTn id="92" dur="1" fill="hold">
                                          <p:stCondLst>
                                            <p:cond delay="0"/>
                                          </p:stCondLst>
                                        </p:cTn>
                                        <p:tgtEl>
                                          <p:spTgt spid="9016"/>
                                        </p:tgtEl>
                                        <p:attrNameLst>
                                          <p:attrName>style.visibility</p:attrName>
                                        </p:attrNameLst>
                                      </p:cBhvr>
                                      <p:to>
                                        <p:strVal val="visible"/>
                                      </p:to>
                                    </p:set>
                                    <p:animEffect transition="in" filter="fade">
                                      <p:cBhvr>
                                        <p:cTn id="93" dur="550"/>
                                        <p:tgtEl>
                                          <p:spTgt spid="9016"/>
                                        </p:tgtEl>
                                      </p:cBhvr>
                                    </p:animEffect>
                                  </p:childTnLst>
                                </p:cTn>
                              </p:par>
                              <p:par>
                                <p:cTn id="94" presetID="10" presetClass="entr" presetSubtype="0" fill="hold" nodeType="withEffect">
                                  <p:stCondLst>
                                    <p:cond delay="0"/>
                                  </p:stCondLst>
                                  <p:childTnLst>
                                    <p:set>
                                      <p:cBhvr>
                                        <p:cTn id="95" dur="1" fill="hold">
                                          <p:stCondLst>
                                            <p:cond delay="0"/>
                                          </p:stCondLst>
                                        </p:cTn>
                                        <p:tgtEl>
                                          <p:spTgt spid="9017"/>
                                        </p:tgtEl>
                                        <p:attrNameLst>
                                          <p:attrName>style.visibility</p:attrName>
                                        </p:attrNameLst>
                                      </p:cBhvr>
                                      <p:to>
                                        <p:strVal val="visible"/>
                                      </p:to>
                                    </p:set>
                                    <p:animEffect transition="in" filter="fade">
                                      <p:cBhvr>
                                        <p:cTn id="96" dur="550"/>
                                        <p:tgtEl>
                                          <p:spTgt spid="9017"/>
                                        </p:tgtEl>
                                      </p:cBhvr>
                                    </p:animEffect>
                                  </p:childTnLst>
                                </p:cTn>
                              </p:par>
                              <p:par>
                                <p:cTn id="97" presetID="10" presetClass="entr" presetSubtype="0" fill="hold" nodeType="withEffect">
                                  <p:stCondLst>
                                    <p:cond delay="0"/>
                                  </p:stCondLst>
                                  <p:childTnLst>
                                    <p:set>
                                      <p:cBhvr>
                                        <p:cTn id="98" dur="1" fill="hold">
                                          <p:stCondLst>
                                            <p:cond delay="0"/>
                                          </p:stCondLst>
                                        </p:cTn>
                                        <p:tgtEl>
                                          <p:spTgt spid="9018"/>
                                        </p:tgtEl>
                                        <p:attrNameLst>
                                          <p:attrName>style.visibility</p:attrName>
                                        </p:attrNameLst>
                                      </p:cBhvr>
                                      <p:to>
                                        <p:strVal val="visible"/>
                                      </p:to>
                                    </p:set>
                                    <p:animEffect transition="in" filter="fade">
                                      <p:cBhvr>
                                        <p:cTn id="99" dur="550"/>
                                        <p:tgtEl>
                                          <p:spTgt spid="9018"/>
                                        </p:tgtEl>
                                      </p:cBhvr>
                                    </p:animEffect>
                                  </p:childTnLst>
                                </p:cTn>
                              </p:par>
                              <p:par>
                                <p:cTn id="100" presetID="10" presetClass="entr" presetSubtype="0" fill="hold" nodeType="withEffect">
                                  <p:stCondLst>
                                    <p:cond delay="0"/>
                                  </p:stCondLst>
                                  <p:childTnLst>
                                    <p:set>
                                      <p:cBhvr>
                                        <p:cTn id="101" dur="1" fill="hold">
                                          <p:stCondLst>
                                            <p:cond delay="0"/>
                                          </p:stCondLst>
                                        </p:cTn>
                                        <p:tgtEl>
                                          <p:spTgt spid="9019"/>
                                        </p:tgtEl>
                                        <p:attrNameLst>
                                          <p:attrName>style.visibility</p:attrName>
                                        </p:attrNameLst>
                                      </p:cBhvr>
                                      <p:to>
                                        <p:strVal val="visible"/>
                                      </p:to>
                                    </p:set>
                                    <p:animEffect transition="in" filter="fade">
                                      <p:cBhvr>
                                        <p:cTn id="102" dur="550"/>
                                        <p:tgtEl>
                                          <p:spTgt spid="9019"/>
                                        </p:tgtEl>
                                      </p:cBhvr>
                                    </p:animEffect>
                                  </p:childTnLst>
                                </p:cTn>
                              </p:par>
                              <p:par>
                                <p:cTn id="103" presetID="10" presetClass="entr" presetSubtype="0" fill="hold" nodeType="withEffect">
                                  <p:stCondLst>
                                    <p:cond delay="0"/>
                                  </p:stCondLst>
                                  <p:childTnLst>
                                    <p:set>
                                      <p:cBhvr>
                                        <p:cTn id="104" dur="1" fill="hold">
                                          <p:stCondLst>
                                            <p:cond delay="0"/>
                                          </p:stCondLst>
                                        </p:cTn>
                                        <p:tgtEl>
                                          <p:spTgt spid="9020"/>
                                        </p:tgtEl>
                                        <p:attrNameLst>
                                          <p:attrName>style.visibility</p:attrName>
                                        </p:attrNameLst>
                                      </p:cBhvr>
                                      <p:to>
                                        <p:strVal val="visible"/>
                                      </p:to>
                                    </p:set>
                                    <p:animEffect transition="in" filter="fade">
                                      <p:cBhvr>
                                        <p:cTn id="105" dur="550"/>
                                        <p:tgtEl>
                                          <p:spTgt spid="9020"/>
                                        </p:tgtEl>
                                      </p:cBhvr>
                                    </p:animEffect>
                                  </p:childTnLst>
                                </p:cTn>
                              </p:par>
                              <p:par>
                                <p:cTn id="106" presetID="10" presetClass="entr" presetSubtype="0" fill="hold" nodeType="withEffect">
                                  <p:stCondLst>
                                    <p:cond delay="0"/>
                                  </p:stCondLst>
                                  <p:childTnLst>
                                    <p:set>
                                      <p:cBhvr>
                                        <p:cTn id="107" dur="1" fill="hold">
                                          <p:stCondLst>
                                            <p:cond delay="0"/>
                                          </p:stCondLst>
                                        </p:cTn>
                                        <p:tgtEl>
                                          <p:spTgt spid="9021"/>
                                        </p:tgtEl>
                                        <p:attrNameLst>
                                          <p:attrName>style.visibility</p:attrName>
                                        </p:attrNameLst>
                                      </p:cBhvr>
                                      <p:to>
                                        <p:strVal val="visible"/>
                                      </p:to>
                                    </p:set>
                                    <p:animEffect transition="in" filter="fade">
                                      <p:cBhvr>
                                        <p:cTn id="108" dur="550"/>
                                        <p:tgtEl>
                                          <p:spTgt spid="9021"/>
                                        </p:tgtEl>
                                      </p:cBhvr>
                                    </p:animEffect>
                                  </p:childTnLst>
                                </p:cTn>
                              </p:par>
                              <p:par>
                                <p:cTn id="109" presetID="10" presetClass="entr" presetSubtype="0" fill="hold" nodeType="withEffect">
                                  <p:stCondLst>
                                    <p:cond delay="0"/>
                                  </p:stCondLst>
                                  <p:childTnLst>
                                    <p:set>
                                      <p:cBhvr>
                                        <p:cTn id="110" dur="1" fill="hold">
                                          <p:stCondLst>
                                            <p:cond delay="0"/>
                                          </p:stCondLst>
                                        </p:cTn>
                                        <p:tgtEl>
                                          <p:spTgt spid="9022"/>
                                        </p:tgtEl>
                                        <p:attrNameLst>
                                          <p:attrName>style.visibility</p:attrName>
                                        </p:attrNameLst>
                                      </p:cBhvr>
                                      <p:to>
                                        <p:strVal val="visible"/>
                                      </p:to>
                                    </p:set>
                                    <p:animEffect transition="in" filter="fade">
                                      <p:cBhvr>
                                        <p:cTn id="111" dur="550"/>
                                        <p:tgtEl>
                                          <p:spTgt spid="9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AF6F4"/>
        </a:solidFill>
        <a:effectLst/>
      </p:bgPr>
    </p:bg>
    <p:spTree>
      <p:nvGrpSpPr>
        <p:cNvPr id="1" name=""/>
        <p:cNvGrpSpPr/>
        <p:nvPr/>
      </p:nvGrpSpPr>
      <p:grpSpPr>
        <a:xfrm>
          <a:off x="0" y="0"/>
          <a:ext cx="0" cy="0"/>
          <a:chOff x="0" y="0"/>
          <a:chExt cx="0" cy="0"/>
        </a:xfrm>
      </p:grpSpPr>
      <p:sp>
        <p:nvSpPr>
          <p:cNvPr id="2" name="Text 0"/>
          <p:cNvSpPr/>
          <p:nvPr/>
        </p:nvSpPr>
        <p:spPr>
          <a:xfrm>
            <a:off x="812788" y="355578"/>
            <a:ext cx="6540485"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THE TRIDENT · AGENTE CRÉDITO LATAM</a:t>
            </a:r>
            <a:endParaRPr lang="en-US" sz="1200" dirty="0"/>
          </a:p>
        </p:txBody>
      </p:sp>
      <p:sp>
        <p:nvSpPr>
          <p:cNvPr id="3" name="Text 1"/>
          <p:cNvSpPr>
            <a:spLocks noGrp="1"/>
          </p:cNvSpPr>
          <p:nvPr>
            <p:ph type="title"/>
          </p:nvPr>
        </p:nvSpPr>
        <p:spPr>
          <a:xfrm>
            <a:off x="812788" y="812788"/>
            <a:ext cx="10883382" cy="472420"/>
          </a:xfrm>
          <a:prstGeom prst="rect">
            <a:avLst/>
          </a:prstGeom>
          <a:noFill/>
          <a:ln/>
        </p:spPr>
        <p:txBody>
          <a:bodyPr wrap="square" lIns="0" tIns="0" rIns="0" bIns="0" rtlCol="0" anchor="t">
            <a:noAutofit/>
          </a:bodyPr>
          <a:lstStyle/>
          <a:p>
            <a:pPr marL="0" indent="0" algn="l">
              <a:lnSpc>
                <a:spcPts val="3520"/>
              </a:lnSpc>
              <a:buNone/>
            </a:pPr>
            <a:r>
              <a:rPr lang="en-US" sz="3200" b="1" i="0" kern="0" spc="-50" dirty="0">
                <a:solidFill>
                  <a:srgbClr val="22161A"/>
                </a:solidFill>
                <a:latin typeface="Bricolage Grotesque" pitchFamily="34" charset="0"/>
                <a:ea typeface="Bricolage Grotesque" pitchFamily="34" charset="-122"/>
                <a:cs typeface="Bricolage Grotesque" pitchFamily="34" charset="-120"/>
              </a:rPr>
              <a:t>Built the way a bank runs it, all in code</a:t>
            </a:r>
            <a:endParaRPr lang="en-US" sz="3200" dirty="0"/>
          </a:p>
        </p:txBody>
      </p:sp>
      <p:sp>
        <p:nvSpPr>
          <p:cNvPr id="18" name="Text 15">
            <a:hlinkClick r:id="rId3"/>
          </p:cNvPr>
          <p:cNvSpPr/>
          <p:nvPr/>
        </p:nvSpPr>
        <p:spPr>
          <a:xfrm>
            <a:off x="812788" y="6238280"/>
            <a:ext cx="1020317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diagrams/arquitectura.drawio (pages hackathon and to-be, exported by CI) · infra/ · docs/adr/ · .claude/skills/adr-hackathon</a:t>
            </a:r>
            <a:endParaRPr lang="en-US" sz="1200" dirty="0"/>
          </a:p>
        </p:txBody>
      </p:sp>
      <p:sp>
        <p:nvSpPr>
          <p:cNvPr id="19" name="Text 16"/>
          <p:cNvSpPr/>
          <p:nvPr/>
        </p:nvSpPr>
        <p:spPr>
          <a:xfrm>
            <a:off x="10820409" y="6238280"/>
            <a:ext cx="558769" cy="238739"/>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4</a:t>
            </a:r>
            <a:endParaRPr lang="en-US" sz="1200" dirty="0"/>
          </a:p>
        </p:txBody>
      </p:sp>
      <p:sp>
        <p:nvSpPr>
          <p:cNvPr id="9026" name="Diagram frame"/>
          <p:cNvSpPr/>
          <p:nvPr/>
        </p:nvSpPr>
        <p:spPr>
          <a:xfrm>
            <a:off x="813816" y="1463040"/>
            <a:ext cx="6903720" cy="3950208"/>
          </a:xfrm>
          <a:prstGeom prst="roundRect">
            <a:avLst>
              <a:gd name="adj" fmla="val 11264"/>
            </a:avLst>
          </a:prstGeom>
          <a:solidFill>
            <a:srgbClr val="FFFFFF"/>
          </a:solidFill>
          <a:ln w="6350">
            <a:solidFill>
              <a:srgbClr val="EADBD5"/>
            </a:solidFill>
          </a:ln>
        </p:spPr>
        <p:txBody>
          <a:bodyPr/>
          <a:lstStyle/>
          <a:p>
            <a:endParaRPr lang="en-US"/>
          </a:p>
        </p:txBody>
      </p:sp>
      <p:pic>
        <p:nvPicPr>
          <p:cNvPr id="9027" name="Architecture diagram" descr="demo_crop.png">
            <a:hlinkClick r:id="rId4"/>
          </p:cNvPr>
          <p:cNvPicPr>
            <a:picLocks noChangeAspect="1"/>
          </p:cNvPicPr>
          <p:nvPr/>
        </p:nvPicPr>
        <p:blipFill>
          <a:blip r:embed="rId5"/>
          <a:stretch>
            <a:fillRect/>
          </a:stretch>
        </p:blipFill>
        <p:spPr>
          <a:xfrm>
            <a:off x="841248" y="1508760"/>
            <a:ext cx="6848856" cy="3858768"/>
          </a:xfrm>
          <a:prstGeom prst="rect">
            <a:avLst/>
          </a:prstGeom>
        </p:spPr>
      </p:pic>
      <p:sp>
        <p:nvSpPr>
          <p:cNvPr id="4" name="Delivered as code"/>
          <p:cNvSpPr/>
          <p:nvPr/>
        </p:nvSpPr>
        <p:spPr>
          <a:xfrm>
            <a:off x="813816" y="5522976"/>
            <a:ext cx="6903720" cy="585216"/>
          </a:xfrm>
          <a:prstGeom prst="roundRect">
            <a:avLst>
              <a:gd name="adj" fmla="val 11264"/>
            </a:avLst>
          </a:prstGeom>
          <a:solidFill>
            <a:srgbClr val="22161A"/>
          </a:solidFill>
          <a:ln>
            <a:noFill/>
          </a:ln>
        </p:spPr>
        <p:txBody>
          <a:bodyPr/>
          <a:lstStyle/>
          <a:p>
            <a:endParaRPr lang="en-US"/>
          </a:p>
        </p:txBody>
      </p:sp>
      <p:sp>
        <p:nvSpPr>
          <p:cNvPr id="9028" name="Code stat 0">
            <a:hlinkClick r:id="rId6"/>
          </p:cNvPr>
          <p:cNvSpPr txBox="1"/>
          <p:nvPr/>
        </p:nvSpPr>
        <p:spPr>
          <a:xfrm>
            <a:off x="950976" y="5614416"/>
            <a:ext cx="1216152" cy="420624"/>
          </a:xfrm>
          <a:prstGeom prst="rect">
            <a:avLst/>
          </a:prstGeom>
          <a:noFill/>
          <a:ln/>
        </p:spPr>
        <p:txBody>
          <a:bodyPr wrap="square" lIns="0" tIns="0" rIns="0" bIns="0" rtlCol="0" anchor="t">
            <a:noAutofit/>
          </a:bodyPr>
          <a:lstStyle/>
          <a:p>
            <a:pPr marL="0" indent="0" algn="l">
              <a:lnSpc>
                <a:spcPts val="1600"/>
              </a:lnSpc>
              <a:spcAft>
                <a:spcPts val="200"/>
              </a:spcAft>
              <a:buNone/>
            </a:pPr>
            <a:r>
              <a:rPr lang="en-US" sz="1600" b="1" dirty="0">
                <a:solidFill>
                  <a:srgbClr val="FFFFFF"/>
                </a:solidFill>
                <a:latin typeface="Bricolage Grotesque"/>
                <a:ea typeface="Bricolage Grotesque"/>
                <a:cs typeface="Bricolage Grotesque"/>
              </a:rPr>
              <a:t>IaC</a:t>
            </a:r>
            <a:endParaRPr lang="en-US" sz="1600" dirty="0"/>
          </a:p>
          <a:p>
            <a:pPr marL="0" indent="0" algn="l">
              <a:lnSpc>
                <a:spcPts val="977"/>
              </a:lnSpc>
              <a:buNone/>
            </a:pPr>
            <a:r>
              <a:rPr lang="en-US" sz="850" dirty="0">
                <a:solidFill>
                  <a:srgbClr val="D9CCC7"/>
                </a:solidFill>
                <a:latin typeface="Plus Jakarta Sans"/>
                <a:ea typeface="Plus Jakarta Sans"/>
                <a:cs typeface="Plus Jakarta Sans"/>
              </a:rPr>
              <a:t>Terraform + Actions, approval gates</a:t>
            </a:r>
            <a:endParaRPr lang="en-US" sz="850" dirty="0"/>
          </a:p>
        </p:txBody>
      </p:sp>
      <p:sp>
        <p:nvSpPr>
          <p:cNvPr id="9029" name="Code stat 1">
            <a:hlinkClick r:id="rId7"/>
          </p:cNvPr>
          <p:cNvSpPr txBox="1"/>
          <p:nvPr/>
        </p:nvSpPr>
        <p:spPr>
          <a:xfrm>
            <a:off x="2276856" y="5614416"/>
            <a:ext cx="1216152" cy="420624"/>
          </a:xfrm>
          <a:prstGeom prst="rect">
            <a:avLst/>
          </a:prstGeom>
          <a:noFill/>
          <a:ln/>
        </p:spPr>
        <p:txBody>
          <a:bodyPr wrap="square" lIns="0" tIns="0" rIns="0" bIns="0" rtlCol="0" anchor="t">
            <a:noAutofit/>
          </a:bodyPr>
          <a:lstStyle/>
          <a:p>
            <a:pPr marL="0" indent="0" algn="l">
              <a:lnSpc>
                <a:spcPts val="1600"/>
              </a:lnSpc>
              <a:spcAft>
                <a:spcPts val="200"/>
              </a:spcAft>
              <a:buNone/>
            </a:pPr>
            <a:r>
              <a:rPr lang="en-US" sz="1600" b="1" dirty="0">
                <a:solidFill>
                  <a:srgbClr val="FFFFFF"/>
                </a:solidFill>
                <a:latin typeface="Bricolage Grotesque"/>
                <a:ea typeface="Bricolage Grotesque"/>
                <a:cs typeface="Bricolage Grotesque"/>
              </a:rPr>
              <a:t>8</a:t>
            </a:r>
            <a:endParaRPr lang="en-US" sz="1600" dirty="0"/>
          </a:p>
          <a:p>
            <a:pPr marL="0" indent="0" algn="l">
              <a:lnSpc>
                <a:spcPts val="977"/>
              </a:lnSpc>
              <a:buNone/>
            </a:pPr>
            <a:r>
              <a:rPr lang="en-US" sz="850" dirty="0">
                <a:solidFill>
                  <a:srgbClr val="D9CCC7"/>
                </a:solidFill>
                <a:latin typeface="Plus Jakarta Sans"/>
                <a:ea typeface="Plus Jakarta Sans"/>
                <a:cs typeface="Plus Jakarta Sans"/>
              </a:rPr>
              <a:t>contracts first: 3 roles in parallel</a:t>
            </a:r>
            <a:endParaRPr lang="en-US" sz="850" dirty="0"/>
          </a:p>
        </p:txBody>
      </p:sp>
      <p:sp>
        <p:nvSpPr>
          <p:cNvPr id="9030" name="Code stat 2">
            <a:hlinkClick r:id="rId8"/>
          </p:cNvPr>
          <p:cNvSpPr txBox="1"/>
          <p:nvPr/>
        </p:nvSpPr>
        <p:spPr>
          <a:xfrm>
            <a:off x="3602736" y="5614416"/>
            <a:ext cx="1216152" cy="420624"/>
          </a:xfrm>
          <a:prstGeom prst="rect">
            <a:avLst/>
          </a:prstGeom>
          <a:noFill/>
          <a:ln/>
        </p:spPr>
        <p:txBody>
          <a:bodyPr wrap="square" lIns="0" tIns="0" rIns="0" bIns="0" rtlCol="0" anchor="t">
            <a:noAutofit/>
          </a:bodyPr>
          <a:lstStyle/>
          <a:p>
            <a:pPr marL="0" indent="0" algn="l">
              <a:lnSpc>
                <a:spcPts val="1600"/>
              </a:lnSpc>
              <a:spcAft>
                <a:spcPts val="200"/>
              </a:spcAft>
              <a:buNone/>
            </a:pPr>
            <a:r>
              <a:rPr lang="en-US" sz="1600" b="1" dirty="0">
                <a:solidFill>
                  <a:srgbClr val="FFFFFF"/>
                </a:solidFill>
                <a:latin typeface="Bricolage Grotesque"/>
                <a:ea typeface="Bricolage Grotesque"/>
                <a:cs typeface="Bricolage Grotesque"/>
              </a:rPr>
              <a:t>29</a:t>
            </a:r>
            <a:endParaRPr lang="en-US" sz="1600" dirty="0"/>
          </a:p>
          <a:p>
            <a:pPr marL="0" indent="0" algn="l">
              <a:lnSpc>
                <a:spcPts val="977"/>
              </a:lnSpc>
              <a:buNone/>
            </a:pPr>
            <a:r>
              <a:rPr lang="en-US" sz="850" dirty="0">
                <a:solidFill>
                  <a:srgbClr val="D9CCC7"/>
                </a:solidFill>
                <a:latin typeface="Plus Jakarta Sans"/>
                <a:ea typeface="Plus Jakarta Sans"/>
                <a:cs typeface="Plus Jakarta Sans"/>
              </a:rPr>
              <a:t>ADRs, one per decision</a:t>
            </a:r>
            <a:endParaRPr lang="en-US" sz="850" dirty="0"/>
          </a:p>
        </p:txBody>
      </p:sp>
      <p:sp>
        <p:nvSpPr>
          <p:cNvPr id="9031" name="Code stat 3">
            <a:hlinkClick r:id="rId9"/>
          </p:cNvPr>
          <p:cNvSpPr txBox="1"/>
          <p:nvPr/>
        </p:nvSpPr>
        <p:spPr>
          <a:xfrm>
            <a:off x="4928616" y="5614416"/>
            <a:ext cx="1216152" cy="420624"/>
          </a:xfrm>
          <a:prstGeom prst="rect">
            <a:avLst/>
          </a:prstGeom>
          <a:noFill/>
          <a:ln/>
        </p:spPr>
        <p:txBody>
          <a:bodyPr wrap="square" lIns="0" tIns="0" rIns="0" bIns="0" rtlCol="0" anchor="t">
            <a:noAutofit/>
          </a:bodyPr>
          <a:lstStyle/>
          <a:p>
            <a:pPr marL="0" indent="0" algn="l">
              <a:lnSpc>
                <a:spcPts val="1600"/>
              </a:lnSpc>
              <a:spcAft>
                <a:spcPts val="200"/>
              </a:spcAft>
              <a:buNone/>
            </a:pPr>
            <a:r>
              <a:rPr lang="en-US" sz="1600" b="1" dirty="0">
                <a:solidFill>
                  <a:srgbClr val="FFFFFF"/>
                </a:solidFill>
                <a:latin typeface="Bricolage Grotesque"/>
                <a:ea typeface="Bricolage Grotesque"/>
                <a:cs typeface="Bricolage Grotesque"/>
              </a:rPr>
              <a:t>1</a:t>
            </a:r>
            <a:endParaRPr lang="en-US" sz="1600" dirty="0"/>
          </a:p>
          <a:p>
            <a:pPr marL="0" indent="0" algn="l">
              <a:lnSpc>
                <a:spcPts val="977"/>
              </a:lnSpc>
              <a:buNone/>
            </a:pPr>
            <a:r>
              <a:rPr lang="en-US" sz="850" dirty="0">
                <a:solidFill>
                  <a:srgbClr val="D9CCC7"/>
                </a:solidFill>
                <a:latin typeface="Plus Jakarta Sans"/>
                <a:ea typeface="Plus Jakarta Sans"/>
                <a:cs typeface="Plus Jakarta Sans"/>
              </a:rPr>
              <a:t>own agent skill for docs as code</a:t>
            </a:r>
            <a:endParaRPr lang="en-US" sz="850" dirty="0"/>
          </a:p>
        </p:txBody>
      </p:sp>
      <p:sp>
        <p:nvSpPr>
          <p:cNvPr id="9032" name="Code stat 4">
            <a:hlinkClick r:id="rId10"/>
          </p:cNvPr>
          <p:cNvSpPr txBox="1"/>
          <p:nvPr/>
        </p:nvSpPr>
        <p:spPr>
          <a:xfrm>
            <a:off x="6254496" y="5614416"/>
            <a:ext cx="1216152" cy="420624"/>
          </a:xfrm>
          <a:prstGeom prst="rect">
            <a:avLst/>
          </a:prstGeom>
          <a:noFill/>
          <a:ln/>
        </p:spPr>
        <p:txBody>
          <a:bodyPr wrap="square" lIns="0" tIns="0" rIns="0" bIns="0" rtlCol="0" anchor="t">
            <a:noAutofit/>
          </a:bodyPr>
          <a:lstStyle/>
          <a:p>
            <a:pPr marL="0" indent="0" algn="l">
              <a:lnSpc>
                <a:spcPts val="1600"/>
              </a:lnSpc>
              <a:spcAft>
                <a:spcPts val="200"/>
              </a:spcAft>
              <a:buNone/>
            </a:pPr>
            <a:r>
              <a:rPr lang="en-US" sz="1600" b="1" dirty="0">
                <a:solidFill>
                  <a:srgbClr val="FFFFFF"/>
                </a:solidFill>
                <a:latin typeface="Bricolage Grotesque"/>
                <a:ea typeface="Bricolage Grotesque"/>
                <a:cs typeface="Bricolage Grotesque"/>
              </a:rPr>
              <a:t>210</a:t>
            </a:r>
            <a:endParaRPr lang="en-US" sz="1600" dirty="0"/>
          </a:p>
          <a:p>
            <a:pPr marL="0" indent="0" algn="l">
              <a:lnSpc>
                <a:spcPts val="977"/>
              </a:lnSpc>
              <a:buNone/>
            </a:pPr>
            <a:r>
              <a:rPr lang="en-US" sz="850" dirty="0">
                <a:solidFill>
                  <a:srgbClr val="D9CCC7"/>
                </a:solidFill>
                <a:latin typeface="Plus Jakarta Sans"/>
                <a:ea typeface="Plus Jakarta Sans"/>
                <a:cs typeface="Plus Jakarta Sans"/>
              </a:rPr>
              <a:t>tests + eval on every PR</a:t>
            </a:r>
            <a:endParaRPr lang="en-US" sz="850" dirty="0"/>
          </a:p>
        </p:txBody>
      </p:sp>
      <p:sp>
        <p:nvSpPr>
          <p:cNvPr id="9033" name="Choices label"/>
          <p:cNvSpPr txBox="1"/>
          <p:nvPr/>
        </p:nvSpPr>
        <p:spPr>
          <a:xfrm>
            <a:off x="7918704" y="1463040"/>
            <a:ext cx="3456432" cy="201168"/>
          </a:xfrm>
          <a:prstGeom prst="rect">
            <a:avLst/>
          </a:prstGeom>
          <a:noFill/>
          <a:ln/>
        </p:spPr>
        <p:txBody>
          <a:bodyPr wrap="square" lIns="0" tIns="0" rIns="0" bIns="0" rtlCol="0" anchor="t">
            <a:noAutofit/>
          </a:bodyPr>
          <a:lstStyle/>
          <a:p>
            <a:pPr marL="0" indent="0" algn="l">
              <a:lnSpc>
                <a:spcPts val="1019"/>
              </a:lnSpc>
              <a:buNone/>
            </a:pPr>
            <a:r>
              <a:rPr lang="en-US" sz="850" b="1" spc="40" dirty="0">
                <a:solidFill>
                  <a:srgbClr val="B0243A"/>
                </a:solidFill>
                <a:latin typeface="IBM Plex Mono"/>
                <a:ea typeface="IBM Plex Mono"/>
                <a:cs typeface="IBM Plex Mono"/>
              </a:rPr>
              <a:t>DESIGN CHOICES A BANK CARES ABOUT</a:t>
            </a:r>
            <a:endParaRPr lang="en-US" sz="850" dirty="0"/>
          </a:p>
        </p:txBody>
      </p:sp>
      <p:sp>
        <p:nvSpPr>
          <p:cNvPr id="9034" name="Card · Answers only from bank policy"/>
          <p:cNvSpPr/>
          <p:nvPr/>
        </p:nvSpPr>
        <p:spPr>
          <a:xfrm>
            <a:off x="7918704" y="1737360"/>
            <a:ext cx="3456432" cy="932688"/>
          </a:xfrm>
          <a:prstGeom prst="roundRect">
            <a:avLst>
              <a:gd name="adj" fmla="val 11264"/>
            </a:avLst>
          </a:prstGeom>
          <a:solidFill>
            <a:srgbClr val="FFFDFB"/>
          </a:solidFill>
          <a:ln w="6350">
            <a:solidFill>
              <a:srgbClr val="EADBD5"/>
            </a:solidFill>
          </a:ln>
        </p:spPr>
        <p:txBody>
          <a:bodyPr/>
          <a:lstStyle/>
          <a:p>
            <a:endParaRPr lang="en-US"/>
          </a:p>
        </p:txBody>
      </p:sp>
      <p:sp>
        <p:nvSpPr>
          <p:cNvPr id="9035" name="Card text · Answers only from bank policy">
            <a:hlinkClick r:id="rId11"/>
          </p:cNvPr>
          <p:cNvSpPr txBox="1"/>
          <p:nvPr/>
        </p:nvSpPr>
        <p:spPr>
          <a:xfrm>
            <a:off x="8083296" y="1856232"/>
            <a:ext cx="3127248" cy="768096"/>
          </a:xfrm>
          <a:prstGeom prst="rect">
            <a:avLst/>
          </a:prstGeom>
          <a:noFill/>
          <a:ln/>
        </p:spPr>
        <p:txBody>
          <a:bodyPr wrap="square" lIns="0" tIns="0" rIns="0" bIns="0" rtlCol="0" anchor="t">
            <a:noAutofit/>
          </a:bodyPr>
          <a:lstStyle/>
          <a:p>
            <a:pPr marL="0" indent="0" algn="l">
              <a:lnSpc>
                <a:spcPts val="1019"/>
              </a:lnSpc>
              <a:spcAft>
                <a:spcPts val="300"/>
              </a:spcAft>
              <a:buNone/>
            </a:pPr>
            <a:r>
              <a:rPr lang="en-US" sz="850" b="1" spc="40" dirty="0">
                <a:solidFill>
                  <a:srgbClr val="1D3F8A"/>
                </a:solidFill>
                <a:latin typeface="IBM Plex Mono"/>
                <a:ea typeface="IBM Plex Mono"/>
                <a:cs typeface="IBM Plex Mono"/>
              </a:rPr>
              <a:t>RAG · ES + PT</a:t>
            </a:r>
            <a:endParaRPr lang="en-US" sz="850" dirty="0"/>
          </a:p>
          <a:p>
            <a:pPr marL="0" indent="0" algn="l">
              <a:lnSpc>
                <a:spcPts val="1430"/>
              </a:lnSpc>
              <a:spcAft>
                <a:spcPts val="400"/>
              </a:spcAft>
              <a:buNone/>
            </a:pPr>
            <a:r>
              <a:rPr lang="en-US" sz="1300" b="1" dirty="0">
                <a:solidFill>
                  <a:srgbClr val="22161A"/>
                </a:solidFill>
                <a:latin typeface="Plus Jakarta Sans"/>
                <a:ea typeface="Plus Jakarta Sans"/>
                <a:cs typeface="Plus Jakarta Sans"/>
              </a:rPr>
              <a:t>Answers only from bank policy</a:t>
            </a:r>
            <a:endParaRPr lang="en-US" sz="1300" dirty="0"/>
          </a:p>
          <a:p>
            <a:pPr marL="0" indent="0" algn="l">
              <a:lnSpc>
                <a:spcPts val="1220"/>
              </a:lnSpc>
              <a:buNone/>
            </a:pPr>
            <a:r>
              <a:rPr lang="en-US" sz="1000" dirty="0">
                <a:solidFill>
                  <a:srgbClr val="6B5A5F"/>
                </a:solidFill>
                <a:latin typeface="Plus Jakarta Sans"/>
                <a:ea typeface="Plus Jakarta Sans"/>
                <a:cs typeface="Plus Jakarta Sans"/>
              </a:rPr>
              <a:t>Hybrid search in Cosmos DB, bge-m3 embeddings. Recall@5: 1.0 es, 0.92 pt.</a:t>
            </a:r>
            <a:endParaRPr lang="en-US" sz="1000" dirty="0"/>
          </a:p>
        </p:txBody>
      </p:sp>
      <p:sp>
        <p:nvSpPr>
          <p:cNvPr id="9036" name="Card · Regulators as data, cited"/>
          <p:cNvSpPr/>
          <p:nvPr/>
        </p:nvSpPr>
        <p:spPr>
          <a:xfrm>
            <a:off x="7918704" y="2752344"/>
            <a:ext cx="3456432" cy="932688"/>
          </a:xfrm>
          <a:prstGeom prst="roundRect">
            <a:avLst>
              <a:gd name="adj" fmla="val 11264"/>
            </a:avLst>
          </a:prstGeom>
          <a:solidFill>
            <a:srgbClr val="FFFDFB"/>
          </a:solidFill>
          <a:ln w="6350">
            <a:solidFill>
              <a:srgbClr val="EADBD5"/>
            </a:solidFill>
          </a:ln>
        </p:spPr>
        <p:txBody>
          <a:bodyPr/>
          <a:lstStyle/>
          <a:p>
            <a:endParaRPr lang="en-US"/>
          </a:p>
        </p:txBody>
      </p:sp>
      <p:sp>
        <p:nvSpPr>
          <p:cNvPr id="9037" name="Card text · Regulators as data, cited">
            <a:hlinkClick r:id="rId12"/>
          </p:cNvPr>
          <p:cNvSpPr txBox="1"/>
          <p:nvPr/>
        </p:nvSpPr>
        <p:spPr>
          <a:xfrm>
            <a:off x="8083296" y="2871216"/>
            <a:ext cx="3127248" cy="768096"/>
          </a:xfrm>
          <a:prstGeom prst="rect">
            <a:avLst/>
          </a:prstGeom>
          <a:noFill/>
          <a:ln/>
        </p:spPr>
        <p:txBody>
          <a:bodyPr wrap="square" lIns="0" tIns="0" rIns="0" bIns="0" rtlCol="0" anchor="t">
            <a:noAutofit/>
          </a:bodyPr>
          <a:lstStyle/>
          <a:p>
            <a:pPr marL="0" indent="0" algn="l">
              <a:lnSpc>
                <a:spcPts val="1019"/>
              </a:lnSpc>
              <a:spcAft>
                <a:spcPts val="300"/>
              </a:spcAft>
              <a:buNone/>
            </a:pPr>
            <a:r>
              <a:rPr lang="en-US" sz="850" b="1" spc="40" dirty="0">
                <a:solidFill>
                  <a:srgbClr val="145C3B"/>
                </a:solidFill>
                <a:latin typeface="IBM Plex Mono"/>
                <a:ea typeface="IBM Plex Mono"/>
                <a:cs typeface="IBM Plex Mono"/>
              </a:rPr>
              <a:t>EXTERNAL SOURCES</a:t>
            </a:r>
            <a:endParaRPr lang="en-US" sz="850" dirty="0"/>
          </a:p>
          <a:p>
            <a:pPr marL="0" indent="0" algn="l">
              <a:lnSpc>
                <a:spcPts val="1430"/>
              </a:lnSpc>
              <a:spcAft>
                <a:spcPts val="400"/>
              </a:spcAft>
              <a:buNone/>
            </a:pPr>
            <a:r>
              <a:rPr lang="en-US" sz="1300" b="1" dirty="0">
                <a:solidFill>
                  <a:srgbClr val="22161A"/>
                </a:solidFill>
                <a:latin typeface="Plus Jakarta Sans"/>
                <a:ea typeface="Plus Jakarta Sans"/>
                <a:cs typeface="Plus Jakarta Sans"/>
              </a:rPr>
              <a:t>Regulators as data, cited</a:t>
            </a:r>
            <a:endParaRPr lang="en-US" sz="1300" dirty="0"/>
          </a:p>
          <a:p>
            <a:pPr marL="0" indent="0" algn="l">
              <a:lnSpc>
                <a:spcPts val="1220"/>
              </a:lnSpc>
              <a:buNone/>
            </a:pPr>
            <a:r>
              <a:rPr lang="en-US" sz="1000" dirty="0">
                <a:solidFill>
                  <a:srgbClr val="6B5A5F"/>
                </a:solidFill>
                <a:latin typeface="Plus Jakarta Sans"/>
                <a:ea typeface="Plus Jakarta Sans"/>
                <a:cs typeface="Plus Jakarta Sans"/>
              </a:rPr>
              <a:t>SFC, Banxico and BCRA rate caps with URL and date. Attacks from MITRE ATLAS.</a:t>
            </a:r>
            <a:endParaRPr lang="en-US" sz="1000" dirty="0"/>
          </a:p>
        </p:txBody>
      </p:sp>
      <p:sp>
        <p:nvSpPr>
          <p:cNvPr id="9038" name="Card · A fixed graph, not a free agent"/>
          <p:cNvSpPr/>
          <p:nvPr/>
        </p:nvSpPr>
        <p:spPr>
          <a:xfrm>
            <a:off x="7918704" y="3767328"/>
            <a:ext cx="3456432" cy="932688"/>
          </a:xfrm>
          <a:prstGeom prst="roundRect">
            <a:avLst>
              <a:gd name="adj" fmla="val 11264"/>
            </a:avLst>
          </a:prstGeom>
          <a:solidFill>
            <a:srgbClr val="FFFDFB"/>
          </a:solidFill>
          <a:ln w="6350">
            <a:solidFill>
              <a:srgbClr val="EADBD5"/>
            </a:solidFill>
          </a:ln>
        </p:spPr>
        <p:txBody>
          <a:bodyPr/>
          <a:lstStyle/>
          <a:p>
            <a:endParaRPr lang="en-US"/>
          </a:p>
        </p:txBody>
      </p:sp>
      <p:sp>
        <p:nvSpPr>
          <p:cNvPr id="9039" name="Card text · A fixed graph, not a free agent">
            <a:hlinkClick r:id="rId13"/>
          </p:cNvPr>
          <p:cNvSpPr txBox="1"/>
          <p:nvPr/>
        </p:nvSpPr>
        <p:spPr>
          <a:xfrm>
            <a:off x="8083296" y="3886200"/>
            <a:ext cx="3127248" cy="768096"/>
          </a:xfrm>
          <a:prstGeom prst="rect">
            <a:avLst/>
          </a:prstGeom>
          <a:noFill/>
          <a:ln/>
        </p:spPr>
        <p:txBody>
          <a:bodyPr wrap="square" lIns="0" tIns="0" rIns="0" bIns="0" rtlCol="0" anchor="t">
            <a:noAutofit/>
          </a:bodyPr>
          <a:lstStyle/>
          <a:p>
            <a:pPr marL="0" indent="0" algn="l">
              <a:lnSpc>
                <a:spcPts val="1019"/>
              </a:lnSpc>
              <a:spcAft>
                <a:spcPts val="300"/>
              </a:spcAft>
              <a:buNone/>
            </a:pPr>
            <a:r>
              <a:rPr lang="en-US" sz="850" b="1" spc="40" dirty="0">
                <a:solidFill>
                  <a:srgbClr val="B0243A"/>
                </a:solidFill>
                <a:latin typeface="IBM Plex Mono"/>
                <a:ea typeface="IBM Plex Mono"/>
                <a:cs typeface="IBM Plex Mono"/>
              </a:rPr>
              <a:t>ORCHESTRATION</a:t>
            </a:r>
            <a:endParaRPr lang="en-US" sz="850" dirty="0"/>
          </a:p>
          <a:p>
            <a:pPr marL="0" indent="0" algn="l">
              <a:lnSpc>
                <a:spcPts val="1430"/>
              </a:lnSpc>
              <a:spcAft>
                <a:spcPts val="400"/>
              </a:spcAft>
              <a:buNone/>
            </a:pPr>
            <a:r>
              <a:rPr lang="en-US" sz="1300" b="1" dirty="0">
                <a:solidFill>
                  <a:srgbClr val="22161A"/>
                </a:solidFill>
                <a:latin typeface="Plus Jakarta Sans"/>
                <a:ea typeface="Plus Jakarta Sans"/>
                <a:cs typeface="Plus Jakarta Sans"/>
              </a:rPr>
              <a:t>A fixed graph, not a free agent</a:t>
            </a:r>
            <a:endParaRPr lang="en-US" sz="1300" dirty="0"/>
          </a:p>
          <a:p>
            <a:pPr marL="0" indent="0" algn="l">
              <a:lnSpc>
                <a:spcPts val="1220"/>
              </a:lnSpc>
              <a:buNone/>
            </a:pPr>
            <a:r>
              <a:rPr lang="en-US" sz="1000" dirty="0">
                <a:solidFill>
                  <a:srgbClr val="6B5A5F"/>
                </a:solidFill>
                <a:latin typeface="Plus Jakarta Sans"/>
                <a:ea typeface="Plus Jakarta Sans"/>
                <a:cs typeface="Plus Jakarta Sans"/>
              </a:rPr>
              <a:t>LangGraph: the LLM never approves, versioned rules do. Same input, same decision, auditable.</a:t>
            </a:r>
            <a:endParaRPr lang="en-US" sz="1000" dirty="0"/>
          </a:p>
        </p:txBody>
      </p:sp>
      <p:sp>
        <p:nvSpPr>
          <p:cNvPr id="9040" name="To-Be card"/>
          <p:cNvSpPr/>
          <p:nvPr/>
        </p:nvSpPr>
        <p:spPr>
          <a:xfrm>
            <a:off x="7918704" y="4782312"/>
            <a:ext cx="3456432" cy="1325880"/>
          </a:xfrm>
          <a:prstGeom prst="roundRect">
            <a:avLst>
              <a:gd name="adj" fmla="val 11264"/>
            </a:avLst>
          </a:prstGeom>
          <a:solidFill>
            <a:srgbClr val="F1E9E6"/>
          </a:solidFill>
          <a:ln>
            <a:noFill/>
          </a:ln>
        </p:spPr>
        <p:txBody>
          <a:bodyPr/>
          <a:lstStyle/>
          <a:p>
            <a:endParaRPr lang="en-US"/>
          </a:p>
        </p:txBody>
      </p:sp>
      <p:pic>
        <p:nvPicPr>
          <p:cNvPr id="9041" name="To-Be diagram" descr="ent_crop.png">
            <a:hlinkClick r:id="rId14"/>
          </p:cNvPr>
          <p:cNvPicPr>
            <a:picLocks noChangeAspect="1"/>
          </p:cNvPicPr>
          <p:nvPr/>
        </p:nvPicPr>
        <p:blipFill>
          <a:blip r:embed="rId15"/>
          <a:stretch>
            <a:fillRect/>
          </a:stretch>
        </p:blipFill>
        <p:spPr>
          <a:xfrm>
            <a:off x="8046720" y="4928616"/>
            <a:ext cx="1371600" cy="621220"/>
          </a:xfrm>
          <a:prstGeom prst="rect">
            <a:avLst/>
          </a:prstGeom>
        </p:spPr>
      </p:pic>
      <p:sp>
        <p:nvSpPr>
          <p:cNvPr id="5" name="To-Be text">
            <a:hlinkClick r:id="rId16"/>
          </p:cNvPr>
          <p:cNvSpPr txBox="1"/>
          <p:nvPr/>
        </p:nvSpPr>
        <p:spPr>
          <a:xfrm>
            <a:off x="9546336" y="4901184"/>
            <a:ext cx="1700784" cy="1143000"/>
          </a:xfrm>
          <a:prstGeom prst="rect">
            <a:avLst/>
          </a:prstGeom>
          <a:noFill/>
          <a:ln/>
        </p:spPr>
        <p:txBody>
          <a:bodyPr wrap="square" lIns="0" tIns="0" rIns="0" bIns="0" rtlCol="0" anchor="t">
            <a:noAutofit/>
          </a:bodyPr>
          <a:lstStyle/>
          <a:p>
            <a:pPr marL="0" indent="0" algn="l">
              <a:lnSpc>
                <a:spcPts val="1019"/>
              </a:lnSpc>
              <a:spcAft>
                <a:spcPts val="300"/>
              </a:spcAft>
              <a:buNone/>
            </a:pPr>
            <a:r>
              <a:rPr lang="en-US" sz="850" b="1" spc="40" dirty="0">
                <a:solidFill>
                  <a:srgbClr val="B0243A"/>
                </a:solidFill>
                <a:latin typeface="IBM Plex Mono"/>
                <a:ea typeface="IBM Plex Mono"/>
                <a:cs typeface="IBM Plex Mono"/>
              </a:rPr>
              <a:t>TO-BE · IN A BANK</a:t>
            </a:r>
            <a:endParaRPr lang="en-US" sz="850" dirty="0"/>
          </a:p>
          <a:p>
            <a:pPr marL="0" indent="0" algn="l">
              <a:lnSpc>
                <a:spcPts val="1150"/>
              </a:lnSpc>
              <a:buNone/>
            </a:pPr>
            <a:r>
              <a:rPr lang="en-US" sz="1000" b="1" dirty="0">
                <a:solidFill>
                  <a:srgbClr val="22161A"/>
                </a:solidFill>
                <a:latin typeface="Plus Jakarta Sans"/>
                <a:ea typeface="Plus Jakarta Sans"/>
                <a:cs typeface="Plus Jakarta Sans"/>
              </a:rPr>
              <a:t>Private endpoints, WAF, Entra ID, hub-and-spoke</a:t>
            </a:r>
            <a:endParaRPr lang="en-US" sz="1000" dirty="0"/>
          </a:p>
        </p:txBody>
      </p:sp>
      <p:sp>
        <p:nvSpPr>
          <p:cNvPr id="9042" name="To-Be path">
            <a:hlinkClick r:id="rId14"/>
          </p:cNvPr>
          <p:cNvSpPr txBox="1"/>
          <p:nvPr/>
        </p:nvSpPr>
        <p:spPr>
          <a:xfrm>
            <a:off x="8046720" y="5622989"/>
            <a:ext cx="3200400" cy="228600"/>
          </a:xfrm>
          <a:prstGeom prst="rect">
            <a:avLst/>
          </a:prstGeom>
          <a:noFill/>
          <a:ln/>
        </p:spPr>
        <p:txBody>
          <a:bodyPr wrap="square" lIns="0" tIns="0" rIns="0" bIns="0" rtlCol="0" anchor="t">
            <a:noAutofit/>
          </a:bodyPr>
          <a:lstStyle/>
          <a:p>
            <a:pPr marL="0" indent="0" algn="l">
              <a:lnSpc>
                <a:spcPts val="880"/>
              </a:lnSpc>
              <a:buNone/>
            </a:pPr>
            <a:r>
              <a:rPr lang="en-US" sz="800" dirty="0">
                <a:solidFill>
                  <a:srgbClr val="6B5A5F"/>
                </a:solidFill>
                <a:latin typeface="IBM Plex Mono"/>
                <a:ea typeface="IBM Plex Mono"/>
                <a:cs typeface="IBM Plex Mono"/>
              </a:rPr>
              <a:t>Open the to-be diagram ↗</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9026"/>
                                        </p:tgtEl>
                                        <p:attrNameLst>
                                          <p:attrName>style.visibility</p:attrName>
                                        </p:attrNameLst>
                                      </p:cBhvr>
                                      <p:to>
                                        <p:strVal val="visible"/>
                                      </p:to>
                                    </p:set>
                                    <p:animEffect transition="in" filter="fade">
                                      <p:cBhvr>
                                        <p:cTn id="7" dur="550"/>
                                        <p:tgtEl>
                                          <p:spTgt spid="9026"/>
                                        </p:tgtEl>
                                      </p:cBhvr>
                                    </p:animEffect>
                                  </p:childTnLst>
                                </p:cTn>
                              </p:par>
                              <p:par>
                                <p:cTn id="8" presetID="10" presetClass="entr" presetSubtype="0" fill="hold" nodeType="withEffect">
                                  <p:stCondLst>
                                    <p:cond delay="0"/>
                                  </p:stCondLst>
                                  <p:childTnLst>
                                    <p:set>
                                      <p:cBhvr>
                                        <p:cTn id="9" dur="1" fill="hold">
                                          <p:stCondLst>
                                            <p:cond delay="0"/>
                                          </p:stCondLst>
                                        </p:cTn>
                                        <p:tgtEl>
                                          <p:spTgt spid="9027"/>
                                        </p:tgtEl>
                                        <p:attrNameLst>
                                          <p:attrName>style.visibility</p:attrName>
                                        </p:attrNameLst>
                                      </p:cBhvr>
                                      <p:to>
                                        <p:strVal val="visible"/>
                                      </p:to>
                                    </p:set>
                                    <p:animEffect transition="in" filter="fade">
                                      <p:cBhvr>
                                        <p:cTn id="10" dur="550"/>
                                        <p:tgtEl>
                                          <p:spTgt spid="9027"/>
                                        </p:tgtEl>
                                      </p:cBhvr>
                                    </p:animEffect>
                                  </p:childTnLst>
                                </p:cTn>
                              </p:par>
                            </p:childTnLst>
                          </p:cTn>
                        </p:par>
                        <p:par>
                          <p:cTn id="11" fill="hold">
                            <p:stCondLst>
                              <p:cond delay="680"/>
                            </p:stCondLst>
                            <p:childTnLst>
                              <p:par>
                                <p:cTn id="12" presetID="10" presetClass="entr" presetSubtype="0" fill="hold" nodeType="withEffect">
                                  <p:stCondLst>
                                    <p:cond delay="0"/>
                                  </p:stCondLst>
                                  <p:childTnLst>
                                    <p:set>
                                      <p:cBhvr>
                                        <p:cTn id="13" dur="1" fill="hold">
                                          <p:stCondLst>
                                            <p:cond delay="0"/>
                                          </p:stCondLst>
                                        </p:cTn>
                                        <p:tgtEl>
                                          <p:spTgt spid="9033"/>
                                        </p:tgtEl>
                                        <p:attrNameLst>
                                          <p:attrName>style.visibility</p:attrName>
                                        </p:attrNameLst>
                                      </p:cBhvr>
                                      <p:to>
                                        <p:strVal val="visible"/>
                                      </p:to>
                                    </p:set>
                                    <p:animEffect transition="in" filter="fade">
                                      <p:cBhvr>
                                        <p:cTn id="14" dur="550"/>
                                        <p:tgtEl>
                                          <p:spTgt spid="9033"/>
                                        </p:tgtEl>
                                      </p:cBhvr>
                                    </p:animEffect>
                                  </p:childTnLst>
                                </p:cTn>
                              </p:par>
                              <p:par>
                                <p:cTn id="15" presetID="10" presetClass="entr" presetSubtype="0" fill="hold" nodeType="withEffect">
                                  <p:stCondLst>
                                    <p:cond delay="0"/>
                                  </p:stCondLst>
                                  <p:childTnLst>
                                    <p:set>
                                      <p:cBhvr>
                                        <p:cTn id="16" dur="1" fill="hold">
                                          <p:stCondLst>
                                            <p:cond delay="0"/>
                                          </p:stCondLst>
                                        </p:cTn>
                                        <p:tgtEl>
                                          <p:spTgt spid="9034"/>
                                        </p:tgtEl>
                                        <p:attrNameLst>
                                          <p:attrName>style.visibility</p:attrName>
                                        </p:attrNameLst>
                                      </p:cBhvr>
                                      <p:to>
                                        <p:strVal val="visible"/>
                                      </p:to>
                                    </p:set>
                                    <p:animEffect transition="in" filter="fade">
                                      <p:cBhvr>
                                        <p:cTn id="17" dur="550"/>
                                        <p:tgtEl>
                                          <p:spTgt spid="9034"/>
                                        </p:tgtEl>
                                      </p:cBhvr>
                                    </p:animEffect>
                                  </p:childTnLst>
                                </p:cTn>
                              </p:par>
                              <p:par>
                                <p:cTn id="18" presetID="10" presetClass="entr" presetSubtype="0" fill="hold" nodeType="withEffect">
                                  <p:stCondLst>
                                    <p:cond delay="0"/>
                                  </p:stCondLst>
                                  <p:childTnLst>
                                    <p:set>
                                      <p:cBhvr>
                                        <p:cTn id="19" dur="1" fill="hold">
                                          <p:stCondLst>
                                            <p:cond delay="0"/>
                                          </p:stCondLst>
                                        </p:cTn>
                                        <p:tgtEl>
                                          <p:spTgt spid="9035"/>
                                        </p:tgtEl>
                                        <p:attrNameLst>
                                          <p:attrName>style.visibility</p:attrName>
                                        </p:attrNameLst>
                                      </p:cBhvr>
                                      <p:to>
                                        <p:strVal val="visible"/>
                                      </p:to>
                                    </p:set>
                                    <p:animEffect transition="in" filter="fade">
                                      <p:cBhvr>
                                        <p:cTn id="20" dur="550"/>
                                        <p:tgtEl>
                                          <p:spTgt spid="9035"/>
                                        </p:tgtEl>
                                      </p:cBhvr>
                                    </p:animEffect>
                                  </p:childTnLst>
                                </p:cTn>
                              </p:par>
                              <p:par>
                                <p:cTn id="21" presetID="10" presetClass="entr" presetSubtype="0" fill="hold" nodeType="withEffect">
                                  <p:stCondLst>
                                    <p:cond delay="0"/>
                                  </p:stCondLst>
                                  <p:childTnLst>
                                    <p:set>
                                      <p:cBhvr>
                                        <p:cTn id="22" dur="1" fill="hold">
                                          <p:stCondLst>
                                            <p:cond delay="0"/>
                                          </p:stCondLst>
                                        </p:cTn>
                                        <p:tgtEl>
                                          <p:spTgt spid="9036"/>
                                        </p:tgtEl>
                                        <p:attrNameLst>
                                          <p:attrName>style.visibility</p:attrName>
                                        </p:attrNameLst>
                                      </p:cBhvr>
                                      <p:to>
                                        <p:strVal val="visible"/>
                                      </p:to>
                                    </p:set>
                                    <p:animEffect transition="in" filter="fade">
                                      <p:cBhvr>
                                        <p:cTn id="23" dur="550"/>
                                        <p:tgtEl>
                                          <p:spTgt spid="9036"/>
                                        </p:tgtEl>
                                      </p:cBhvr>
                                    </p:animEffect>
                                  </p:childTnLst>
                                </p:cTn>
                              </p:par>
                              <p:par>
                                <p:cTn id="24" presetID="10" presetClass="entr" presetSubtype="0" fill="hold" nodeType="withEffect">
                                  <p:stCondLst>
                                    <p:cond delay="0"/>
                                  </p:stCondLst>
                                  <p:childTnLst>
                                    <p:set>
                                      <p:cBhvr>
                                        <p:cTn id="25" dur="1" fill="hold">
                                          <p:stCondLst>
                                            <p:cond delay="0"/>
                                          </p:stCondLst>
                                        </p:cTn>
                                        <p:tgtEl>
                                          <p:spTgt spid="9037"/>
                                        </p:tgtEl>
                                        <p:attrNameLst>
                                          <p:attrName>style.visibility</p:attrName>
                                        </p:attrNameLst>
                                      </p:cBhvr>
                                      <p:to>
                                        <p:strVal val="visible"/>
                                      </p:to>
                                    </p:set>
                                    <p:animEffect transition="in" filter="fade">
                                      <p:cBhvr>
                                        <p:cTn id="26" dur="550"/>
                                        <p:tgtEl>
                                          <p:spTgt spid="9037"/>
                                        </p:tgtEl>
                                      </p:cBhvr>
                                    </p:animEffect>
                                  </p:childTnLst>
                                </p:cTn>
                              </p:par>
                              <p:par>
                                <p:cTn id="27" presetID="10" presetClass="entr" presetSubtype="0" fill="hold" nodeType="withEffect">
                                  <p:stCondLst>
                                    <p:cond delay="0"/>
                                  </p:stCondLst>
                                  <p:childTnLst>
                                    <p:set>
                                      <p:cBhvr>
                                        <p:cTn id="28" dur="1" fill="hold">
                                          <p:stCondLst>
                                            <p:cond delay="0"/>
                                          </p:stCondLst>
                                        </p:cTn>
                                        <p:tgtEl>
                                          <p:spTgt spid="9038"/>
                                        </p:tgtEl>
                                        <p:attrNameLst>
                                          <p:attrName>style.visibility</p:attrName>
                                        </p:attrNameLst>
                                      </p:cBhvr>
                                      <p:to>
                                        <p:strVal val="visible"/>
                                      </p:to>
                                    </p:set>
                                    <p:animEffect transition="in" filter="fade">
                                      <p:cBhvr>
                                        <p:cTn id="29" dur="550"/>
                                        <p:tgtEl>
                                          <p:spTgt spid="9038"/>
                                        </p:tgtEl>
                                      </p:cBhvr>
                                    </p:animEffect>
                                  </p:childTnLst>
                                </p:cTn>
                              </p:par>
                              <p:par>
                                <p:cTn id="30" presetID="10" presetClass="entr" presetSubtype="0" fill="hold" nodeType="withEffect">
                                  <p:stCondLst>
                                    <p:cond delay="0"/>
                                  </p:stCondLst>
                                  <p:childTnLst>
                                    <p:set>
                                      <p:cBhvr>
                                        <p:cTn id="31" dur="1" fill="hold">
                                          <p:stCondLst>
                                            <p:cond delay="0"/>
                                          </p:stCondLst>
                                        </p:cTn>
                                        <p:tgtEl>
                                          <p:spTgt spid="9039"/>
                                        </p:tgtEl>
                                        <p:attrNameLst>
                                          <p:attrName>style.visibility</p:attrName>
                                        </p:attrNameLst>
                                      </p:cBhvr>
                                      <p:to>
                                        <p:strVal val="visible"/>
                                      </p:to>
                                    </p:set>
                                    <p:animEffect transition="in" filter="fade">
                                      <p:cBhvr>
                                        <p:cTn id="32" dur="550"/>
                                        <p:tgtEl>
                                          <p:spTgt spid="9039"/>
                                        </p:tgtEl>
                                      </p:cBhvr>
                                    </p:animEffect>
                                  </p:childTnLst>
                                </p:cTn>
                              </p:par>
                            </p:childTnLst>
                          </p:cTn>
                        </p:par>
                        <p:par>
                          <p:cTn id="33" fill="hold">
                            <p:stCondLst>
                              <p:cond delay="1060"/>
                            </p:stCondLst>
                            <p:childTnLst>
                              <p:par>
                                <p:cTn id="34" presetID="10" presetClass="entr" presetSubtype="0" fill="hold" nodeType="withEffect">
                                  <p:stCondLst>
                                    <p:cond delay="0"/>
                                  </p:stCondLst>
                                  <p:childTnLst>
                                    <p:set>
                                      <p:cBhvr>
                                        <p:cTn id="35" dur="1" fill="hold">
                                          <p:stCondLst>
                                            <p:cond delay="0"/>
                                          </p:stCondLst>
                                        </p:cTn>
                                        <p:tgtEl>
                                          <p:spTgt spid="9040"/>
                                        </p:tgtEl>
                                        <p:attrNameLst>
                                          <p:attrName>style.visibility</p:attrName>
                                        </p:attrNameLst>
                                      </p:cBhvr>
                                      <p:to>
                                        <p:strVal val="visible"/>
                                      </p:to>
                                    </p:set>
                                    <p:animEffect transition="in" filter="fade">
                                      <p:cBhvr>
                                        <p:cTn id="36" dur="550"/>
                                        <p:tgtEl>
                                          <p:spTgt spid="9040"/>
                                        </p:tgtEl>
                                      </p:cBhvr>
                                    </p:animEffect>
                                  </p:childTnLst>
                                </p:cTn>
                              </p:par>
                              <p:par>
                                <p:cTn id="37" presetID="10" presetClass="entr" presetSubtype="0" fill="hold" nodeType="withEffect">
                                  <p:stCondLst>
                                    <p:cond delay="0"/>
                                  </p:stCondLst>
                                  <p:childTnLst>
                                    <p:set>
                                      <p:cBhvr>
                                        <p:cTn id="38" dur="1" fill="hold">
                                          <p:stCondLst>
                                            <p:cond delay="0"/>
                                          </p:stCondLst>
                                        </p:cTn>
                                        <p:tgtEl>
                                          <p:spTgt spid="9041"/>
                                        </p:tgtEl>
                                        <p:attrNameLst>
                                          <p:attrName>style.visibility</p:attrName>
                                        </p:attrNameLst>
                                      </p:cBhvr>
                                      <p:to>
                                        <p:strVal val="visible"/>
                                      </p:to>
                                    </p:set>
                                    <p:animEffect transition="in" filter="fade">
                                      <p:cBhvr>
                                        <p:cTn id="39" dur="550"/>
                                        <p:tgtEl>
                                          <p:spTgt spid="9041"/>
                                        </p:tgtEl>
                                      </p:cBhvr>
                                    </p:animEffect>
                                  </p:childTnLst>
                                </p:cTn>
                              </p:par>
                              <p:par>
                                <p:cTn id="40" presetID="10" presetClass="entr" presetSubtype="0" fill="hold" nodeType="withEffect">
                                  <p:stCondLst>
                                    <p:cond delay="0"/>
                                  </p:stCondLst>
                                  <p:childTnLst>
                                    <p:set>
                                      <p:cBhvr>
                                        <p:cTn id="41" dur="1" fill="hold">
                                          <p:stCondLst>
                                            <p:cond delay="0"/>
                                          </p:stCondLst>
                                        </p:cTn>
                                        <p:tgtEl>
                                          <p:spTgt spid="9041"/>
                                        </p:tgtEl>
                                        <p:attrNameLst>
                                          <p:attrName>style.visibility</p:attrName>
                                        </p:attrNameLst>
                                      </p:cBhvr>
                                      <p:to>
                                        <p:strVal val="visible"/>
                                      </p:to>
                                    </p:set>
                                    <p:animEffect transition="in" filter="fade">
                                      <p:cBhvr>
                                        <p:cTn id="42" dur="550"/>
                                        <p:tgtEl>
                                          <p:spTgt spid="9041"/>
                                        </p:tgtEl>
                                      </p:cBhvr>
                                    </p:animEffect>
                                  </p:childTnLst>
                                </p:cTn>
                              </p:par>
                              <p:par>
                                <p:cTn id="43" presetID="10" presetClass="entr" presetSubtype="0" fill="hold" nodeType="withEffect">
                                  <p:stCondLst>
                                    <p:cond delay="0"/>
                                  </p:stCondLst>
                                  <p:childTnLst>
                                    <p:set>
                                      <p:cBhvr>
                                        <p:cTn id="44" dur="1" fill="hold">
                                          <p:stCondLst>
                                            <p:cond delay="0"/>
                                          </p:stCondLst>
                                        </p:cTn>
                                        <p:tgtEl>
                                          <p:spTgt spid="9042"/>
                                        </p:tgtEl>
                                        <p:attrNameLst>
                                          <p:attrName>style.visibility</p:attrName>
                                        </p:attrNameLst>
                                      </p:cBhvr>
                                      <p:to>
                                        <p:strVal val="visible"/>
                                      </p:to>
                                    </p:set>
                                    <p:animEffect transition="in" filter="fade">
                                      <p:cBhvr>
                                        <p:cTn id="45" dur="550"/>
                                        <p:tgtEl>
                                          <p:spTgt spid="9042"/>
                                        </p:tgtEl>
                                      </p:cBhvr>
                                    </p:animEffect>
                                  </p:childTnLst>
                                </p:cTn>
                              </p:par>
                            </p:childTnLst>
                          </p:cTn>
                        </p:par>
                        <p:par>
                          <p:cTn id="46" fill="hold">
                            <p:stCondLst>
                              <p:cond delay="1440"/>
                            </p:stCondLst>
                            <p:childTnLst>
                              <p:par>
                                <p:cTn id="47" presetID="10" presetClass="entr" presetSubtype="0" fill="hold" nodeType="withEffect">
                                  <p:stCondLst>
                                    <p:cond delay="0"/>
                                  </p:stCondLst>
                                  <p:childTnLst>
                                    <p:set>
                                      <p:cBhvr>
                                        <p:cTn id="48" dur="1" fill="hold">
                                          <p:stCondLst>
                                            <p:cond delay="0"/>
                                          </p:stCondLst>
                                        </p:cTn>
                                        <p:tgtEl>
                                          <p:spTgt spid="9027"/>
                                        </p:tgtEl>
                                        <p:attrNameLst>
                                          <p:attrName>style.visibility</p:attrName>
                                        </p:attrNameLst>
                                      </p:cBhvr>
                                      <p:to>
                                        <p:strVal val="visible"/>
                                      </p:to>
                                    </p:set>
                                    <p:animEffect transition="in" filter="fade">
                                      <p:cBhvr>
                                        <p:cTn id="49" dur="550"/>
                                        <p:tgtEl>
                                          <p:spTgt spid="9027"/>
                                        </p:tgtEl>
                                      </p:cBhvr>
                                    </p:animEffect>
                                  </p:childTnLst>
                                </p:cTn>
                              </p:par>
                              <p:par>
                                <p:cTn id="50" presetID="10" presetClass="entr" presetSubtype="0" fill="hold" nodeType="withEffect">
                                  <p:stCondLst>
                                    <p:cond delay="0"/>
                                  </p:stCondLst>
                                  <p:childTnLst>
                                    <p:set>
                                      <p:cBhvr>
                                        <p:cTn id="51" dur="1" fill="hold">
                                          <p:stCondLst>
                                            <p:cond delay="0"/>
                                          </p:stCondLst>
                                        </p:cTn>
                                        <p:tgtEl>
                                          <p:spTgt spid="9028"/>
                                        </p:tgtEl>
                                        <p:attrNameLst>
                                          <p:attrName>style.visibility</p:attrName>
                                        </p:attrNameLst>
                                      </p:cBhvr>
                                      <p:to>
                                        <p:strVal val="visible"/>
                                      </p:to>
                                    </p:set>
                                    <p:animEffect transition="in" filter="fade">
                                      <p:cBhvr>
                                        <p:cTn id="52" dur="550"/>
                                        <p:tgtEl>
                                          <p:spTgt spid="9028"/>
                                        </p:tgtEl>
                                      </p:cBhvr>
                                    </p:animEffect>
                                  </p:childTnLst>
                                </p:cTn>
                              </p:par>
                              <p:par>
                                <p:cTn id="53" presetID="10" presetClass="entr" presetSubtype="0" fill="hold" nodeType="withEffect">
                                  <p:stCondLst>
                                    <p:cond delay="0"/>
                                  </p:stCondLst>
                                  <p:childTnLst>
                                    <p:set>
                                      <p:cBhvr>
                                        <p:cTn id="54" dur="1" fill="hold">
                                          <p:stCondLst>
                                            <p:cond delay="0"/>
                                          </p:stCondLst>
                                        </p:cTn>
                                        <p:tgtEl>
                                          <p:spTgt spid="9029"/>
                                        </p:tgtEl>
                                        <p:attrNameLst>
                                          <p:attrName>style.visibility</p:attrName>
                                        </p:attrNameLst>
                                      </p:cBhvr>
                                      <p:to>
                                        <p:strVal val="visible"/>
                                      </p:to>
                                    </p:set>
                                    <p:animEffect transition="in" filter="fade">
                                      <p:cBhvr>
                                        <p:cTn id="55" dur="550"/>
                                        <p:tgtEl>
                                          <p:spTgt spid="9029"/>
                                        </p:tgtEl>
                                      </p:cBhvr>
                                    </p:animEffect>
                                  </p:childTnLst>
                                </p:cTn>
                              </p:par>
                              <p:par>
                                <p:cTn id="56" presetID="10" presetClass="entr" presetSubtype="0" fill="hold" nodeType="withEffect">
                                  <p:stCondLst>
                                    <p:cond delay="0"/>
                                  </p:stCondLst>
                                  <p:childTnLst>
                                    <p:set>
                                      <p:cBhvr>
                                        <p:cTn id="57" dur="1" fill="hold">
                                          <p:stCondLst>
                                            <p:cond delay="0"/>
                                          </p:stCondLst>
                                        </p:cTn>
                                        <p:tgtEl>
                                          <p:spTgt spid="9030"/>
                                        </p:tgtEl>
                                        <p:attrNameLst>
                                          <p:attrName>style.visibility</p:attrName>
                                        </p:attrNameLst>
                                      </p:cBhvr>
                                      <p:to>
                                        <p:strVal val="visible"/>
                                      </p:to>
                                    </p:set>
                                    <p:animEffect transition="in" filter="fade">
                                      <p:cBhvr>
                                        <p:cTn id="58" dur="550"/>
                                        <p:tgtEl>
                                          <p:spTgt spid="9030"/>
                                        </p:tgtEl>
                                      </p:cBhvr>
                                    </p:animEffect>
                                  </p:childTnLst>
                                </p:cTn>
                              </p:par>
                              <p:par>
                                <p:cTn id="59" presetID="10" presetClass="entr" presetSubtype="0" fill="hold" nodeType="withEffect">
                                  <p:stCondLst>
                                    <p:cond delay="0"/>
                                  </p:stCondLst>
                                  <p:childTnLst>
                                    <p:set>
                                      <p:cBhvr>
                                        <p:cTn id="60" dur="1" fill="hold">
                                          <p:stCondLst>
                                            <p:cond delay="0"/>
                                          </p:stCondLst>
                                        </p:cTn>
                                        <p:tgtEl>
                                          <p:spTgt spid="9031"/>
                                        </p:tgtEl>
                                        <p:attrNameLst>
                                          <p:attrName>style.visibility</p:attrName>
                                        </p:attrNameLst>
                                      </p:cBhvr>
                                      <p:to>
                                        <p:strVal val="visible"/>
                                      </p:to>
                                    </p:set>
                                    <p:animEffect transition="in" filter="fade">
                                      <p:cBhvr>
                                        <p:cTn id="61" dur="550"/>
                                        <p:tgtEl>
                                          <p:spTgt spid="9031"/>
                                        </p:tgtEl>
                                      </p:cBhvr>
                                    </p:animEffect>
                                  </p:childTnLst>
                                </p:cTn>
                              </p:par>
                              <p:par>
                                <p:cTn id="62" presetID="10" presetClass="entr" presetSubtype="0" fill="hold" nodeType="withEffect">
                                  <p:stCondLst>
                                    <p:cond delay="0"/>
                                  </p:stCondLst>
                                  <p:childTnLst>
                                    <p:set>
                                      <p:cBhvr>
                                        <p:cTn id="63" dur="1" fill="hold">
                                          <p:stCondLst>
                                            <p:cond delay="0"/>
                                          </p:stCondLst>
                                        </p:cTn>
                                        <p:tgtEl>
                                          <p:spTgt spid="9032"/>
                                        </p:tgtEl>
                                        <p:attrNameLst>
                                          <p:attrName>style.visibility</p:attrName>
                                        </p:attrNameLst>
                                      </p:cBhvr>
                                      <p:to>
                                        <p:strVal val="visible"/>
                                      </p:to>
                                    </p:set>
                                    <p:animEffect transition="in" filter="fade">
                                      <p:cBhvr>
                                        <p:cTn id="64" dur="550"/>
                                        <p:tgtEl>
                                          <p:spTgt spid="9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6F4"/>
        </a:solidFill>
        <a:effectLst/>
      </p:bgPr>
    </p:bg>
    <p:spTree>
      <p:nvGrpSpPr>
        <p:cNvPr id="1" name=""/>
        <p:cNvGrpSpPr/>
        <p:nvPr/>
      </p:nvGrpSpPr>
      <p:grpSpPr>
        <a:xfrm>
          <a:off x="0" y="0"/>
          <a:ext cx="0" cy="0"/>
          <a:chOff x="0" y="0"/>
          <a:chExt cx="0" cy="0"/>
        </a:xfrm>
      </p:grpSpPr>
      <p:sp>
        <p:nvSpPr>
          <p:cNvPr id="2" name="Text 0"/>
          <p:cNvSpPr/>
          <p:nvPr/>
        </p:nvSpPr>
        <p:spPr>
          <a:xfrm>
            <a:off x="812788" y="355578"/>
            <a:ext cx="6540485"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THE TRIDENT · AGENTE CRÉDITO LATAM</a:t>
            </a:r>
            <a:endParaRPr lang="en-US" sz="1200" dirty="0"/>
          </a:p>
        </p:txBody>
      </p:sp>
      <p:sp>
        <p:nvSpPr>
          <p:cNvPr id="3" name="Text 1"/>
          <p:cNvSpPr>
            <a:spLocks noGrp="1"/>
          </p:cNvSpPr>
          <p:nvPr>
            <p:ph type="title"/>
          </p:nvPr>
        </p:nvSpPr>
        <p:spPr>
          <a:xfrm>
            <a:off x="812788" y="812788"/>
            <a:ext cx="10883382" cy="472420"/>
          </a:xfrm>
          <a:prstGeom prst="rect">
            <a:avLst/>
          </a:prstGeom>
          <a:noFill/>
          <a:ln/>
        </p:spPr>
        <p:txBody>
          <a:bodyPr wrap="square" lIns="0" tIns="0" rIns="0" bIns="0" rtlCol="0" anchor="t">
            <a:noAutofit/>
          </a:bodyPr>
          <a:lstStyle/>
          <a:p>
            <a:pPr marL="0" indent="0" algn="l">
              <a:lnSpc>
                <a:spcPts val="3520"/>
              </a:lnSpc>
              <a:buNone/>
            </a:pPr>
            <a:r>
              <a:rPr lang="en-US" sz="3200" b="1" i="0" kern="0" spc="-50" dirty="0">
                <a:solidFill>
                  <a:srgbClr val="22161A"/>
                </a:solidFill>
                <a:latin typeface="Bricolage Grotesque" pitchFamily="34" charset="0"/>
                <a:ea typeface="Bricolage Grotesque" pitchFamily="34" charset="-122"/>
                <a:cs typeface="Bricolage Grotesque" pitchFamily="34" charset="-120"/>
              </a:rPr>
              <a:t>It knows when not to act, on real data</a:t>
            </a:r>
            <a:endParaRPr lang="en-US" sz="3200" dirty="0"/>
          </a:p>
        </p:txBody>
      </p:sp>
      <p:sp>
        <p:nvSpPr>
          <p:cNvPr id="4" name="Shape 2"/>
          <p:cNvSpPr/>
          <p:nvPr/>
        </p:nvSpPr>
        <p:spPr>
          <a:xfrm>
            <a:off x="815963" y="1882726"/>
            <a:ext cx="3414174" cy="1420566"/>
          </a:xfrm>
          <a:prstGeom prst="roundRect">
            <a:avLst>
              <a:gd name="adj" fmla="val 10505"/>
            </a:avLst>
          </a:prstGeom>
          <a:solidFill>
            <a:srgbClr val="FFFDFB"/>
          </a:solidFill>
          <a:ln w="6350">
            <a:solidFill>
              <a:srgbClr val="EADBD5"/>
            </a:solidFill>
            <a:prstDash val="solid"/>
          </a:ln>
        </p:spPr>
        <p:txBody>
          <a:bodyPr/>
          <a:lstStyle/>
          <a:p>
            <a:endParaRPr lang="en-CO"/>
          </a:p>
        </p:txBody>
      </p:sp>
      <p:sp>
        <p:nvSpPr>
          <p:cNvPr id="5" name="Text 3">
            <a:hlinkClick r:id="rId3"/>
          </p:cNvPr>
          <p:cNvSpPr/>
          <p:nvPr/>
        </p:nvSpPr>
        <p:spPr>
          <a:xfrm>
            <a:off x="1046204" y="2062171"/>
            <a:ext cx="3042301"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5C3B"/>
                </a:solidFill>
                <a:latin typeface="Bricolage Grotesque" pitchFamily="34" charset="0"/>
                <a:ea typeface="Bricolage Grotesque" pitchFamily="34" charset="-122"/>
                <a:cs typeface="Bricolage Grotesque" pitchFamily="34" charset="-120"/>
              </a:rPr>
              <a:t>0.98</a:t>
            </a:r>
            <a:endParaRPr lang="en-US" sz="6000" dirty="0"/>
          </a:p>
        </p:txBody>
      </p:sp>
      <p:sp>
        <p:nvSpPr>
          <p:cNvPr id="6" name="Text 4">
            <a:hlinkClick r:id="rId3"/>
          </p:cNvPr>
          <p:cNvSpPr/>
          <p:nvPr/>
        </p:nvSpPr>
        <p:spPr>
          <a:xfrm>
            <a:off x="1046204" y="2874959"/>
            <a:ext cx="304230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161A"/>
                </a:solidFill>
                <a:latin typeface="Plus Jakarta Sans" pitchFamily="34" charset="0"/>
                <a:ea typeface="Plus Jakarta Sans" pitchFamily="34" charset="-122"/>
                <a:cs typeface="Plus Jakarta Sans" pitchFamily="34" charset="-120"/>
              </a:rPr>
              <a:t>Abstain accuracy</a:t>
            </a:r>
            <a:endParaRPr lang="en-US" sz="1400" dirty="0"/>
          </a:p>
        </p:txBody>
      </p:sp>
      <p:sp>
        <p:nvSpPr>
          <p:cNvPr id="7" name="Shape 5"/>
          <p:cNvSpPr/>
          <p:nvPr/>
        </p:nvSpPr>
        <p:spPr>
          <a:xfrm>
            <a:off x="4388877" y="1882726"/>
            <a:ext cx="3414211" cy="1420566"/>
          </a:xfrm>
          <a:prstGeom prst="roundRect">
            <a:avLst>
              <a:gd name="adj" fmla="val 10505"/>
            </a:avLst>
          </a:prstGeom>
          <a:solidFill>
            <a:srgbClr val="FFFDFB"/>
          </a:solidFill>
          <a:ln w="6350">
            <a:solidFill>
              <a:srgbClr val="EADBD5"/>
            </a:solidFill>
            <a:prstDash val="solid"/>
          </a:ln>
        </p:spPr>
        <p:txBody>
          <a:bodyPr/>
          <a:lstStyle/>
          <a:p>
            <a:endParaRPr lang="en-CO"/>
          </a:p>
        </p:txBody>
      </p:sp>
      <p:sp>
        <p:nvSpPr>
          <p:cNvPr id="8" name="Text 6">
            <a:hlinkClick r:id="rId3"/>
          </p:cNvPr>
          <p:cNvSpPr/>
          <p:nvPr/>
        </p:nvSpPr>
        <p:spPr>
          <a:xfrm>
            <a:off x="4619118" y="2062171"/>
            <a:ext cx="3042340"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5C3B"/>
                </a:solidFill>
                <a:latin typeface="Bricolage Grotesque" pitchFamily="34" charset="0"/>
                <a:ea typeface="Bricolage Grotesque" pitchFamily="34" charset="-122"/>
                <a:cs typeface="Bricolage Grotesque" pitchFamily="34" charset="-120"/>
              </a:rPr>
              <a:t>0.019</a:t>
            </a:r>
            <a:endParaRPr lang="en-US" sz="6000" dirty="0"/>
          </a:p>
        </p:txBody>
      </p:sp>
      <p:sp>
        <p:nvSpPr>
          <p:cNvPr id="9" name="Text 7">
            <a:hlinkClick r:id="rId3"/>
          </p:cNvPr>
          <p:cNvSpPr/>
          <p:nvPr/>
        </p:nvSpPr>
        <p:spPr>
          <a:xfrm>
            <a:off x="4619118" y="2874959"/>
            <a:ext cx="304234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161A"/>
                </a:solidFill>
                <a:latin typeface="Plus Jakarta Sans" pitchFamily="34" charset="0"/>
                <a:ea typeface="Plus Jakarta Sans" pitchFamily="34" charset="-122"/>
                <a:cs typeface="Plus Jakarta Sans" pitchFamily="34" charset="-120"/>
              </a:rPr>
              <a:t>False action rate</a:t>
            </a:r>
            <a:endParaRPr lang="en-US" sz="1400" dirty="0"/>
          </a:p>
        </p:txBody>
      </p:sp>
      <p:sp>
        <p:nvSpPr>
          <p:cNvPr id="10" name="Shape 8"/>
          <p:cNvSpPr/>
          <p:nvPr/>
        </p:nvSpPr>
        <p:spPr>
          <a:xfrm>
            <a:off x="7961829" y="1882726"/>
            <a:ext cx="3414174" cy="1420566"/>
          </a:xfrm>
          <a:prstGeom prst="roundRect">
            <a:avLst>
              <a:gd name="adj" fmla="val 10505"/>
            </a:avLst>
          </a:prstGeom>
          <a:solidFill>
            <a:srgbClr val="FFFDFB"/>
          </a:solidFill>
          <a:ln w="6350">
            <a:solidFill>
              <a:srgbClr val="EADBD5"/>
            </a:solidFill>
            <a:prstDash val="solid"/>
          </a:ln>
        </p:spPr>
        <p:txBody>
          <a:bodyPr/>
          <a:lstStyle/>
          <a:p>
            <a:endParaRPr lang="en-CO"/>
          </a:p>
        </p:txBody>
      </p:sp>
      <p:sp>
        <p:nvSpPr>
          <p:cNvPr id="11" name="Text 9">
            <a:hlinkClick r:id="rId3"/>
          </p:cNvPr>
          <p:cNvSpPr/>
          <p:nvPr/>
        </p:nvSpPr>
        <p:spPr>
          <a:xfrm>
            <a:off x="8192071" y="2062171"/>
            <a:ext cx="3042301" cy="787391"/>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5C3B"/>
                </a:solidFill>
                <a:latin typeface="Bricolage Grotesque" pitchFamily="34" charset="0"/>
                <a:ea typeface="Bricolage Grotesque" pitchFamily="34" charset="-122"/>
                <a:cs typeface="Bricolage Grotesque" pitchFamily="34" charset="-120"/>
              </a:rPr>
              <a:t>0</a:t>
            </a:r>
            <a:endParaRPr lang="en-US" sz="6000" dirty="0"/>
          </a:p>
        </p:txBody>
      </p:sp>
      <p:sp>
        <p:nvSpPr>
          <p:cNvPr id="12" name="Text 10">
            <a:hlinkClick r:id="rId3"/>
          </p:cNvPr>
          <p:cNvSpPr/>
          <p:nvPr/>
        </p:nvSpPr>
        <p:spPr>
          <a:xfrm>
            <a:off x="8192071" y="2874959"/>
            <a:ext cx="304230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161A"/>
                </a:solidFill>
                <a:latin typeface="Plus Jakarta Sans" pitchFamily="34" charset="0"/>
                <a:ea typeface="Plus Jakarta Sans" pitchFamily="34" charset="-122"/>
                <a:cs typeface="Plus Jakarta Sans" pitchFamily="34" charset="-120"/>
              </a:rPr>
              <a:t>Successful prompt injections</a:t>
            </a:r>
            <a:endParaRPr lang="en-US" sz="1400" dirty="0"/>
          </a:p>
        </p:txBody>
      </p:sp>
      <p:sp>
        <p:nvSpPr>
          <p:cNvPr id="13" name="Text 11">
            <a:hlinkClick r:id="rId4"/>
          </p:cNvPr>
          <p:cNvSpPr/>
          <p:nvPr/>
        </p:nvSpPr>
        <p:spPr>
          <a:xfrm>
            <a:off x="812788" y="3673443"/>
            <a:ext cx="3401044" cy="25655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2161A"/>
                </a:solidFill>
                <a:latin typeface="Plus Jakarta Sans" pitchFamily="34" charset="0"/>
                <a:ea typeface="Plus Jakarta Sans" pitchFamily="34" charset="-122"/>
                <a:cs typeface="Plus Jakarta Sans" pitchFamily="34" charset="-120"/>
              </a:rPr>
              <a:t>Injections</a:t>
            </a:r>
            <a:r>
              <a:rPr lang="en-US" sz="1300" dirty="0">
                <a:solidFill>
                  <a:srgbClr val="22161A"/>
                </a:solidFill>
                <a:latin typeface="Plus Jakarta Sans" pitchFamily="34" charset="0"/>
                <a:ea typeface="Plus Jakarta Sans" pitchFamily="34" charset="-122"/>
                <a:cs typeface="Plus Jakarta Sans" pitchFamily="34" charset="-120"/>
              </a:rPr>
              <a:t> · deterministic guardrail</a:t>
            </a:r>
            <a:endParaRPr lang="en-US" sz="1300" dirty="0"/>
          </a:p>
        </p:txBody>
      </p:sp>
      <p:sp>
        <p:nvSpPr>
          <p:cNvPr id="14" name="Shape 12"/>
          <p:cNvSpPr/>
          <p:nvPr/>
        </p:nvSpPr>
        <p:spPr>
          <a:xfrm>
            <a:off x="4762452" y="3852516"/>
            <a:ext cx="3619484" cy="25398"/>
          </a:xfrm>
          <a:prstGeom prst="rect">
            <a:avLst/>
          </a:prstGeom>
          <a:solidFill>
            <a:srgbClr val="D9CCC7"/>
          </a:solidFill>
          <a:ln/>
        </p:spPr>
        <p:txBody>
          <a:bodyPr/>
          <a:lstStyle/>
          <a:p>
            <a:endParaRPr lang="en-CO"/>
          </a:p>
        </p:txBody>
      </p:sp>
      <p:pic>
        <p:nvPicPr>
          <p:cNvPr id="15" name="Image 0" descr="ellipse"/>
          <p:cNvPicPr>
            <a:picLocks noChangeAspect="1"/>
          </p:cNvPicPr>
          <p:nvPr/>
        </p:nvPicPr>
        <p:blipFill>
          <a:blip r:embed="rId5"/>
          <a:srcRect/>
          <a:stretch/>
        </p:blipFill>
        <p:spPr>
          <a:xfrm>
            <a:off x="8293022" y="3776321"/>
            <a:ext cx="177789" cy="177789"/>
          </a:xfrm>
          <a:prstGeom prst="rect">
            <a:avLst/>
          </a:prstGeom>
        </p:spPr>
      </p:pic>
      <p:pic>
        <p:nvPicPr>
          <p:cNvPr id="16" name="Image 1" descr="ellipse"/>
          <p:cNvPicPr>
            <a:picLocks noChangeAspect="1"/>
          </p:cNvPicPr>
          <p:nvPr/>
        </p:nvPicPr>
        <p:blipFill>
          <a:blip r:embed="rId6"/>
          <a:srcRect/>
          <a:stretch/>
        </p:blipFill>
        <p:spPr>
          <a:xfrm>
            <a:off x="4673538" y="3776321"/>
            <a:ext cx="177789" cy="177789"/>
          </a:xfrm>
          <a:prstGeom prst="rect">
            <a:avLst/>
          </a:prstGeom>
        </p:spPr>
      </p:pic>
      <p:sp>
        <p:nvSpPr>
          <p:cNvPr id="17" name="Text 13"/>
          <p:cNvSpPr/>
          <p:nvPr/>
        </p:nvSpPr>
        <p:spPr>
          <a:xfrm>
            <a:off x="7975560" y="3560452"/>
            <a:ext cx="812791" cy="238739"/>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0.267</a:t>
            </a:r>
            <a:endParaRPr lang="en-US" sz="1200" dirty="0"/>
          </a:p>
        </p:txBody>
      </p:sp>
      <p:sp>
        <p:nvSpPr>
          <p:cNvPr id="18" name="Text 14">
            <a:hlinkClick r:id="rId3"/>
          </p:cNvPr>
          <p:cNvSpPr/>
          <p:nvPr/>
        </p:nvSpPr>
        <p:spPr>
          <a:xfrm>
            <a:off x="4356037" y="3560452"/>
            <a:ext cx="812791" cy="2387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0</a:t>
            </a:r>
            <a:endParaRPr lang="en-US" sz="1200" dirty="0"/>
          </a:p>
        </p:txBody>
      </p:sp>
      <p:sp>
        <p:nvSpPr>
          <p:cNvPr id="19" name="Text 15">
            <a:hlinkClick r:id="rId7"/>
          </p:cNvPr>
          <p:cNvSpPr/>
          <p:nvPr/>
        </p:nvSpPr>
        <p:spPr>
          <a:xfrm>
            <a:off x="812788" y="4206811"/>
            <a:ext cx="3401044" cy="25655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2161A"/>
                </a:solidFill>
                <a:latin typeface="Plus Jakarta Sans" pitchFamily="34" charset="0"/>
                <a:ea typeface="Plus Jakarta Sans" pitchFamily="34" charset="-122"/>
                <a:cs typeface="Plus Jakarta Sans" pitchFamily="34" charset="-120"/>
              </a:rPr>
              <a:t>Intent failures</a:t>
            </a:r>
            <a:r>
              <a:rPr lang="en-US" sz="1300" dirty="0">
                <a:solidFill>
                  <a:srgbClr val="22161A"/>
                </a:solidFill>
                <a:latin typeface="Plus Jakarta Sans" pitchFamily="34" charset="0"/>
                <a:ea typeface="Plus Jakarta Sans" pitchFamily="34" charset="-122"/>
                <a:cs typeface="Plus Jakarta Sans" pitchFamily="34" charset="-120"/>
              </a:rPr>
              <a:t> · prompt v1 → v2</a:t>
            </a:r>
            <a:endParaRPr lang="en-US" sz="1300" dirty="0"/>
          </a:p>
        </p:txBody>
      </p:sp>
      <p:sp>
        <p:nvSpPr>
          <p:cNvPr id="20" name="Shape 16"/>
          <p:cNvSpPr/>
          <p:nvPr/>
        </p:nvSpPr>
        <p:spPr>
          <a:xfrm>
            <a:off x="5778427" y="4385882"/>
            <a:ext cx="2711443" cy="25398"/>
          </a:xfrm>
          <a:prstGeom prst="rect">
            <a:avLst/>
          </a:prstGeom>
          <a:solidFill>
            <a:srgbClr val="D9CCC7"/>
          </a:solidFill>
          <a:ln/>
        </p:spPr>
        <p:txBody>
          <a:bodyPr/>
          <a:lstStyle/>
          <a:p>
            <a:endParaRPr lang="en-CO"/>
          </a:p>
        </p:txBody>
      </p:sp>
      <p:pic>
        <p:nvPicPr>
          <p:cNvPr id="21" name="Image 2" descr="ellipse"/>
          <p:cNvPicPr>
            <a:picLocks noChangeAspect="1"/>
          </p:cNvPicPr>
          <p:nvPr/>
        </p:nvPicPr>
        <p:blipFill>
          <a:blip r:embed="rId5"/>
          <a:srcRect/>
          <a:stretch/>
        </p:blipFill>
        <p:spPr>
          <a:xfrm>
            <a:off x="8400994" y="4309687"/>
            <a:ext cx="177789" cy="177789"/>
          </a:xfrm>
          <a:prstGeom prst="rect">
            <a:avLst/>
          </a:prstGeom>
        </p:spPr>
      </p:pic>
      <p:pic>
        <p:nvPicPr>
          <p:cNvPr id="22" name="Image 3" descr="ellipse"/>
          <p:cNvPicPr>
            <a:picLocks noChangeAspect="1"/>
          </p:cNvPicPr>
          <p:nvPr/>
        </p:nvPicPr>
        <p:blipFill>
          <a:blip r:embed="rId6"/>
          <a:srcRect/>
          <a:stretch/>
        </p:blipFill>
        <p:spPr>
          <a:xfrm>
            <a:off x="5689551" y="4309687"/>
            <a:ext cx="177789" cy="177789"/>
          </a:xfrm>
          <a:prstGeom prst="rect">
            <a:avLst/>
          </a:prstGeom>
        </p:spPr>
      </p:pic>
      <p:sp>
        <p:nvSpPr>
          <p:cNvPr id="23" name="Text 17"/>
          <p:cNvSpPr/>
          <p:nvPr/>
        </p:nvSpPr>
        <p:spPr>
          <a:xfrm>
            <a:off x="8083493" y="4093819"/>
            <a:ext cx="812791" cy="238739"/>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11</a:t>
            </a:r>
            <a:endParaRPr lang="en-US" sz="1200" dirty="0"/>
          </a:p>
        </p:txBody>
      </p:sp>
      <p:sp>
        <p:nvSpPr>
          <p:cNvPr id="24" name="Text 18"/>
          <p:cNvSpPr/>
          <p:nvPr/>
        </p:nvSpPr>
        <p:spPr>
          <a:xfrm>
            <a:off x="5372050" y="4093819"/>
            <a:ext cx="812791" cy="2387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3</a:t>
            </a:r>
            <a:endParaRPr lang="en-US" sz="1200" dirty="0"/>
          </a:p>
        </p:txBody>
      </p:sp>
      <p:sp>
        <p:nvSpPr>
          <p:cNvPr id="25" name="Text 19">
            <a:hlinkClick r:id="rId8"/>
          </p:cNvPr>
          <p:cNvSpPr/>
          <p:nvPr/>
        </p:nvSpPr>
        <p:spPr>
          <a:xfrm>
            <a:off x="812788" y="4740178"/>
            <a:ext cx="3401044" cy="25655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2161A"/>
                </a:solidFill>
                <a:latin typeface="Plus Jakarta Sans" pitchFamily="34" charset="0"/>
                <a:ea typeface="Plus Jakarta Sans" pitchFamily="34" charset="-122"/>
                <a:cs typeface="Plus Jakarta Sans" pitchFamily="34" charset="-120"/>
              </a:rPr>
              <a:t>Pre-score AUC</a:t>
            </a:r>
            <a:r>
              <a:rPr lang="en-US" sz="1300" dirty="0">
                <a:solidFill>
                  <a:srgbClr val="22161A"/>
                </a:solidFill>
                <a:latin typeface="Plus Jakarta Sans" pitchFamily="34" charset="0"/>
                <a:ea typeface="Plus Jakarta Sans" pitchFamily="34" charset="-122"/>
                <a:cs typeface="Plus Jakarta Sans" pitchFamily="34" charset="-120"/>
              </a:rPr>
              <a:t> · portfolio features</a:t>
            </a:r>
            <a:endParaRPr lang="en-US" sz="1300" dirty="0"/>
          </a:p>
        </p:txBody>
      </p:sp>
      <p:sp>
        <p:nvSpPr>
          <p:cNvPr id="26" name="Shape 20"/>
          <p:cNvSpPr/>
          <p:nvPr/>
        </p:nvSpPr>
        <p:spPr>
          <a:xfrm>
            <a:off x="6927810" y="4919250"/>
            <a:ext cx="1625575" cy="25398"/>
          </a:xfrm>
          <a:prstGeom prst="rect">
            <a:avLst/>
          </a:prstGeom>
          <a:solidFill>
            <a:srgbClr val="D9CCC7"/>
          </a:solidFill>
          <a:ln/>
        </p:spPr>
        <p:txBody>
          <a:bodyPr/>
          <a:lstStyle/>
          <a:p>
            <a:endParaRPr lang="en-CO"/>
          </a:p>
        </p:txBody>
      </p:sp>
      <p:pic>
        <p:nvPicPr>
          <p:cNvPr id="27" name="Image 4" descr="ellipse"/>
          <p:cNvPicPr>
            <a:picLocks noChangeAspect="1"/>
          </p:cNvPicPr>
          <p:nvPr/>
        </p:nvPicPr>
        <p:blipFill>
          <a:blip r:embed="rId5"/>
          <a:srcRect/>
          <a:stretch/>
        </p:blipFill>
        <p:spPr>
          <a:xfrm>
            <a:off x="6838897" y="4843054"/>
            <a:ext cx="177789" cy="177789"/>
          </a:xfrm>
          <a:prstGeom prst="rect">
            <a:avLst/>
          </a:prstGeom>
        </p:spPr>
      </p:pic>
      <p:pic>
        <p:nvPicPr>
          <p:cNvPr id="28" name="Image 5" descr="ellipse"/>
          <p:cNvPicPr>
            <a:picLocks noChangeAspect="1"/>
          </p:cNvPicPr>
          <p:nvPr/>
        </p:nvPicPr>
        <p:blipFill>
          <a:blip r:embed="rId6"/>
          <a:srcRect/>
          <a:stretch/>
        </p:blipFill>
        <p:spPr>
          <a:xfrm>
            <a:off x="8464509" y="4843054"/>
            <a:ext cx="177789" cy="177789"/>
          </a:xfrm>
          <a:prstGeom prst="rect">
            <a:avLst/>
          </a:prstGeom>
        </p:spPr>
      </p:pic>
      <p:sp>
        <p:nvSpPr>
          <p:cNvPr id="29" name="Text 21"/>
          <p:cNvSpPr/>
          <p:nvPr/>
        </p:nvSpPr>
        <p:spPr>
          <a:xfrm>
            <a:off x="6521395" y="4627187"/>
            <a:ext cx="812791" cy="238739"/>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0.66</a:t>
            </a:r>
            <a:endParaRPr lang="en-US" sz="1200" dirty="0"/>
          </a:p>
        </p:txBody>
      </p:sp>
      <p:sp>
        <p:nvSpPr>
          <p:cNvPr id="30" name="Text 22"/>
          <p:cNvSpPr/>
          <p:nvPr/>
        </p:nvSpPr>
        <p:spPr>
          <a:xfrm>
            <a:off x="8147008" y="4627187"/>
            <a:ext cx="812791" cy="2387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0.78</a:t>
            </a:r>
            <a:endParaRPr lang="en-US" sz="1200" dirty="0"/>
          </a:p>
        </p:txBody>
      </p:sp>
      <p:sp>
        <p:nvSpPr>
          <p:cNvPr id="31" name="Text 23">
            <a:hlinkClick r:id="rId3"/>
          </p:cNvPr>
          <p:cNvSpPr/>
          <p:nvPr/>
        </p:nvSpPr>
        <p:spPr>
          <a:xfrm>
            <a:off x="812788" y="6238278"/>
            <a:ext cx="1020317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eval/run_eval.py (82 es/pt cases, 15 MITRE ATLAS) · eval/models.md · ml/train_prescore.py (134,037 customers)</a:t>
            </a:r>
            <a:endParaRPr lang="en-US" sz="1200" dirty="0"/>
          </a:p>
        </p:txBody>
      </p:sp>
      <p:sp>
        <p:nvSpPr>
          <p:cNvPr id="32" name="Text 24"/>
          <p:cNvSpPr/>
          <p:nvPr/>
        </p:nvSpPr>
        <p:spPr>
          <a:xfrm>
            <a:off x="10820409" y="6238278"/>
            <a:ext cx="558769" cy="238739"/>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5</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childTnLst>
                          </p:cTn>
                        </p:par>
                        <p:par>
                          <p:cTn id="32" fill="hold">
                            <p:stCondLst>
                              <p:cond delay="680"/>
                            </p:stCondLst>
                            <p:childTnLst>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5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5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5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5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5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5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5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5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5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5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5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50"/>
                                        <p:tgtEl>
                                          <p:spTgt spid="27"/>
                                        </p:tgtEl>
                                      </p:cBhvr>
                                    </p:animEffect>
                                  </p:childTnLst>
                                </p:cTn>
                              </p:par>
                              <p:par>
                                <p:cTn id="78" presetID="10" presetClass="entr" presetSubtype="0" fill="hold"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50"/>
                                        <p:tgtEl>
                                          <p:spTgt spid="28"/>
                                        </p:tgtEl>
                                      </p:cBhvr>
                                    </p:animEffect>
                                  </p:childTnLst>
                                </p:cTn>
                              </p:par>
                              <p:par>
                                <p:cTn id="81" presetID="10"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5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6F4"/>
        </a:solidFill>
        <a:effectLst/>
      </p:bgPr>
    </p:bg>
    <p:spTree>
      <p:nvGrpSpPr>
        <p:cNvPr id="1" name=""/>
        <p:cNvGrpSpPr/>
        <p:nvPr/>
      </p:nvGrpSpPr>
      <p:grpSpPr>
        <a:xfrm>
          <a:off x="0" y="0"/>
          <a:ext cx="0" cy="0"/>
          <a:chOff x="0" y="0"/>
          <a:chExt cx="0" cy="0"/>
        </a:xfrm>
      </p:grpSpPr>
      <p:sp>
        <p:nvSpPr>
          <p:cNvPr id="2" name="Text 0"/>
          <p:cNvSpPr/>
          <p:nvPr/>
        </p:nvSpPr>
        <p:spPr>
          <a:xfrm>
            <a:off x="812788" y="355578"/>
            <a:ext cx="6540485" cy="238739"/>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0243A"/>
                </a:solidFill>
                <a:latin typeface="IBM Plex Mono" pitchFamily="49" charset="0"/>
                <a:ea typeface="IBM Plex Mono" pitchFamily="49" charset="-122"/>
                <a:cs typeface="IBM Plex Mono" pitchFamily="49" charset="-120"/>
              </a:rPr>
              <a:t>THE TRIDENT · AGENTE CRÉDITO LATAM</a:t>
            </a:r>
            <a:endParaRPr lang="en-US" sz="1200" dirty="0"/>
          </a:p>
        </p:txBody>
      </p:sp>
      <p:sp>
        <p:nvSpPr>
          <p:cNvPr id="3" name="Text 1"/>
          <p:cNvSpPr>
            <a:spLocks noGrp="1"/>
          </p:cNvSpPr>
          <p:nvPr>
            <p:ph type="title"/>
          </p:nvPr>
        </p:nvSpPr>
        <p:spPr>
          <a:xfrm>
            <a:off x="812788" y="812788"/>
            <a:ext cx="10883382" cy="472420"/>
          </a:xfrm>
          <a:prstGeom prst="rect">
            <a:avLst/>
          </a:prstGeom>
          <a:noFill/>
          <a:ln/>
        </p:spPr>
        <p:txBody>
          <a:bodyPr wrap="square" lIns="0" tIns="0" rIns="0" bIns="0" rtlCol="0" anchor="t">
            <a:noAutofit/>
          </a:bodyPr>
          <a:lstStyle/>
          <a:p>
            <a:pPr marL="0" indent="0" algn="l">
              <a:lnSpc>
                <a:spcPts val="3520"/>
              </a:lnSpc>
              <a:buNone/>
            </a:pPr>
            <a:r>
              <a:rPr lang="en-US" sz="3200" b="1" i="0" kern="0" spc="-50" dirty="0">
                <a:solidFill>
                  <a:srgbClr val="22161A"/>
                </a:solidFill>
                <a:latin typeface="Bricolage Grotesque" pitchFamily="34" charset="0"/>
                <a:ea typeface="Bricolage Grotesque" pitchFamily="34" charset="-122"/>
                <a:cs typeface="Bricolage Grotesque" pitchFamily="34" charset="-120"/>
              </a:rPr>
              <a:t>Live, all-real, and built to be operated.</a:t>
            </a:r>
            <a:endParaRPr lang="en-US" sz="3200" dirty="0"/>
          </a:p>
        </p:txBody>
      </p:sp>
      <p:sp>
        <p:nvSpPr>
          <p:cNvPr id="4" name="Shape 2"/>
          <p:cNvSpPr/>
          <p:nvPr/>
        </p:nvSpPr>
        <p:spPr>
          <a:xfrm>
            <a:off x="815963" y="1567765"/>
            <a:ext cx="2127232" cy="1174168"/>
          </a:xfrm>
          <a:prstGeom prst="roundRect">
            <a:avLst>
              <a:gd name="adj" fmla="val 10546"/>
            </a:avLst>
          </a:prstGeom>
          <a:solidFill>
            <a:srgbClr val="FFFDFB"/>
          </a:solidFill>
          <a:ln w="6350">
            <a:solidFill>
              <a:srgbClr val="EADBD5"/>
            </a:solidFill>
            <a:prstDash val="solid"/>
          </a:ln>
        </p:spPr>
        <p:txBody>
          <a:bodyPr/>
          <a:lstStyle/>
          <a:p>
            <a:endParaRPr lang="en-CO"/>
          </a:p>
        </p:txBody>
      </p:sp>
      <p:sp>
        <p:nvSpPr>
          <p:cNvPr id="5" name="Text 3">
            <a:hlinkClick r:id="rId3"/>
          </p:cNvPr>
          <p:cNvSpPr/>
          <p:nvPr/>
        </p:nvSpPr>
        <p:spPr>
          <a:xfrm>
            <a:off x="995407" y="1721808"/>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Dependencies</a:t>
            </a:r>
            <a:endParaRPr lang="en-US" sz="1200" dirty="0"/>
          </a:p>
        </p:txBody>
      </p:sp>
      <p:sp>
        <p:nvSpPr>
          <p:cNvPr id="6" name="Text 4"/>
          <p:cNvSpPr/>
          <p:nvPr/>
        </p:nvSpPr>
        <p:spPr>
          <a:xfrm>
            <a:off x="995407" y="1973228"/>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145C3B"/>
                </a:solidFill>
                <a:latin typeface="Bricolage Grotesque" pitchFamily="34" charset="0"/>
                <a:ea typeface="Bricolage Grotesque" pitchFamily="34" charset="-122"/>
                <a:cs typeface="Bricolage Grotesque" pitchFamily="34" charset="-120"/>
              </a:rPr>
              <a:t>5/5 ok</a:t>
            </a:r>
            <a:endParaRPr lang="en-US" sz="2600" dirty="0"/>
          </a:p>
        </p:txBody>
      </p:sp>
      <p:sp>
        <p:nvSpPr>
          <p:cNvPr id="7" name="Text 5"/>
          <p:cNvSpPr/>
          <p:nvPr/>
        </p:nvSpPr>
        <p:spPr>
          <a:xfrm>
            <a:off x="995407" y="2374547"/>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live /api/healthz</a:t>
            </a:r>
            <a:endParaRPr lang="en-US" sz="1200" dirty="0"/>
          </a:p>
        </p:txBody>
      </p:sp>
      <p:sp>
        <p:nvSpPr>
          <p:cNvPr id="8" name="Shape 6"/>
          <p:cNvSpPr/>
          <p:nvPr/>
        </p:nvSpPr>
        <p:spPr>
          <a:xfrm>
            <a:off x="3051138" y="1567765"/>
            <a:ext cx="2127232" cy="1174168"/>
          </a:xfrm>
          <a:prstGeom prst="roundRect">
            <a:avLst>
              <a:gd name="adj" fmla="val 10546"/>
            </a:avLst>
          </a:prstGeom>
          <a:solidFill>
            <a:srgbClr val="FFFDFB"/>
          </a:solidFill>
          <a:ln w="6350">
            <a:solidFill>
              <a:srgbClr val="EADBD5"/>
            </a:solidFill>
            <a:prstDash val="solid"/>
          </a:ln>
        </p:spPr>
        <p:txBody>
          <a:bodyPr/>
          <a:lstStyle/>
          <a:p>
            <a:endParaRPr lang="en-CO"/>
          </a:p>
        </p:txBody>
      </p:sp>
      <p:sp>
        <p:nvSpPr>
          <p:cNvPr id="9" name="Text 7"/>
          <p:cNvSpPr/>
          <p:nvPr/>
        </p:nvSpPr>
        <p:spPr>
          <a:xfrm>
            <a:off x="3230583" y="1721808"/>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p50, 10 users</a:t>
            </a:r>
            <a:endParaRPr lang="en-US" sz="1200" dirty="0"/>
          </a:p>
        </p:txBody>
      </p:sp>
      <p:sp>
        <p:nvSpPr>
          <p:cNvPr id="10" name="Text 8"/>
          <p:cNvSpPr/>
          <p:nvPr/>
        </p:nvSpPr>
        <p:spPr>
          <a:xfrm>
            <a:off x="3230583" y="1973228"/>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22161A"/>
                </a:solidFill>
                <a:latin typeface="Bricolage Grotesque" pitchFamily="34" charset="0"/>
                <a:ea typeface="Bricolage Grotesque" pitchFamily="34" charset="-122"/>
                <a:cs typeface="Bricolage Grotesque" pitchFamily="34" charset="-120"/>
              </a:rPr>
              <a:t>2.7 s</a:t>
            </a:r>
            <a:endParaRPr lang="en-US" sz="2600" dirty="0"/>
          </a:p>
        </p:txBody>
      </p:sp>
      <p:sp>
        <p:nvSpPr>
          <p:cNvPr id="11" name="Text 9"/>
          <p:cNvSpPr/>
          <p:nvPr/>
        </p:nvSpPr>
        <p:spPr>
          <a:xfrm>
            <a:off x="3230583" y="2374547"/>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89 turns in 1 min</a:t>
            </a:r>
            <a:endParaRPr lang="en-US" sz="1200" dirty="0"/>
          </a:p>
        </p:txBody>
      </p:sp>
      <p:sp>
        <p:nvSpPr>
          <p:cNvPr id="12" name="Shape 10"/>
          <p:cNvSpPr/>
          <p:nvPr/>
        </p:nvSpPr>
        <p:spPr>
          <a:xfrm>
            <a:off x="5286313" y="1567765"/>
            <a:ext cx="2127232" cy="1174168"/>
          </a:xfrm>
          <a:prstGeom prst="roundRect">
            <a:avLst>
              <a:gd name="adj" fmla="val 10546"/>
            </a:avLst>
          </a:prstGeom>
          <a:solidFill>
            <a:srgbClr val="FDF1DE"/>
          </a:solidFill>
          <a:ln w="6350">
            <a:solidFill>
              <a:srgbClr val="EFD6A8"/>
            </a:solidFill>
            <a:prstDash val="solid"/>
          </a:ln>
        </p:spPr>
        <p:txBody>
          <a:bodyPr/>
          <a:lstStyle/>
          <a:p>
            <a:endParaRPr lang="en-CO"/>
          </a:p>
        </p:txBody>
      </p:sp>
      <p:sp>
        <p:nvSpPr>
          <p:cNvPr id="13" name="Text 11"/>
          <p:cNvSpPr/>
          <p:nvPr/>
        </p:nvSpPr>
        <p:spPr>
          <a:xfrm>
            <a:off x="5465758" y="1721808"/>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4B00"/>
                </a:solidFill>
                <a:latin typeface="Plus Jakarta Sans" pitchFamily="34" charset="0"/>
                <a:ea typeface="Plus Jakarta Sans" pitchFamily="34" charset="-122"/>
                <a:cs typeface="Plus Jakarta Sans" pitchFamily="34" charset="-120"/>
              </a:rPr>
              <a:t>p95, 10 users</a:t>
            </a:r>
            <a:endParaRPr lang="en-US" sz="1200" dirty="0"/>
          </a:p>
        </p:txBody>
      </p:sp>
      <p:sp>
        <p:nvSpPr>
          <p:cNvPr id="14" name="Text 12"/>
          <p:cNvSpPr/>
          <p:nvPr/>
        </p:nvSpPr>
        <p:spPr>
          <a:xfrm>
            <a:off x="5465758" y="1973228"/>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7A4B00"/>
                </a:solidFill>
                <a:latin typeface="Bricolage Grotesque" pitchFamily="34" charset="0"/>
                <a:ea typeface="Bricolage Grotesque" pitchFamily="34" charset="-122"/>
                <a:cs typeface="Bricolage Grotesque" pitchFamily="34" charset="-120"/>
              </a:rPr>
              <a:t>17.5 s</a:t>
            </a:r>
            <a:endParaRPr lang="en-US" sz="2600" dirty="0"/>
          </a:p>
        </p:txBody>
      </p:sp>
      <p:sp>
        <p:nvSpPr>
          <p:cNvPr id="15" name="Text 13"/>
          <p:cNvSpPr/>
          <p:nvPr/>
        </p:nvSpPr>
        <p:spPr>
          <a:xfrm>
            <a:off x="5465758" y="2374547"/>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4B00"/>
                </a:solidFill>
                <a:latin typeface="Plus Jakarta Sans" pitchFamily="34" charset="0"/>
                <a:ea typeface="Plus Jakarta Sans" pitchFamily="34" charset="-122"/>
                <a:cs typeface="Plus Jakarta Sans" pitchFamily="34" charset="-120"/>
              </a:rPr>
              <a:t>target 8 s, missed</a:t>
            </a:r>
            <a:endParaRPr lang="en-US" sz="1200" dirty="0"/>
          </a:p>
        </p:txBody>
      </p:sp>
      <p:sp>
        <p:nvSpPr>
          <p:cNvPr id="16" name="Shape 14"/>
          <p:cNvSpPr/>
          <p:nvPr/>
        </p:nvSpPr>
        <p:spPr>
          <a:xfrm>
            <a:off x="815963" y="2849876"/>
            <a:ext cx="2127232" cy="1600846"/>
          </a:xfrm>
          <a:prstGeom prst="roundRect">
            <a:avLst>
              <a:gd name="adj" fmla="val 7735"/>
            </a:avLst>
          </a:prstGeom>
          <a:solidFill>
            <a:srgbClr val="FFFDFB"/>
          </a:solidFill>
          <a:ln w="6350">
            <a:solidFill>
              <a:srgbClr val="EADBD5"/>
            </a:solidFill>
            <a:prstDash val="solid"/>
          </a:ln>
        </p:spPr>
        <p:txBody>
          <a:bodyPr/>
          <a:lstStyle/>
          <a:p>
            <a:endParaRPr lang="en-CO"/>
          </a:p>
        </p:txBody>
      </p:sp>
      <p:sp>
        <p:nvSpPr>
          <p:cNvPr id="17" name="Text 15"/>
          <p:cNvSpPr/>
          <p:nvPr/>
        </p:nvSpPr>
        <p:spPr>
          <a:xfrm>
            <a:off x="995407" y="3003922"/>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Cost</a:t>
            </a:r>
            <a:endParaRPr lang="en-US" sz="1200" dirty="0"/>
          </a:p>
        </p:txBody>
      </p:sp>
      <p:sp>
        <p:nvSpPr>
          <p:cNvPr id="18" name="Text 16"/>
          <p:cNvSpPr/>
          <p:nvPr/>
        </p:nvSpPr>
        <p:spPr>
          <a:xfrm>
            <a:off x="995407" y="3255339"/>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22161A"/>
                </a:solidFill>
                <a:latin typeface="Bricolage Grotesque" pitchFamily="34" charset="0"/>
                <a:ea typeface="Bricolage Grotesque" pitchFamily="34" charset="-122"/>
                <a:cs typeface="Bricolage Grotesque" pitchFamily="34" charset="-120"/>
              </a:rPr>
              <a:t>$0.00035</a:t>
            </a:r>
            <a:endParaRPr lang="en-US" sz="2600" dirty="0"/>
          </a:p>
        </p:txBody>
      </p:sp>
      <p:sp>
        <p:nvSpPr>
          <p:cNvPr id="19" name="Text 17"/>
          <p:cNvSpPr/>
          <p:nvPr/>
        </p:nvSpPr>
        <p:spPr>
          <a:xfrm>
            <a:off x="995407" y="3656657"/>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per turn</a:t>
            </a:r>
            <a:endParaRPr lang="en-US" sz="1200" dirty="0"/>
          </a:p>
        </p:txBody>
      </p:sp>
      <p:sp>
        <p:nvSpPr>
          <p:cNvPr id="20" name="Shape 18"/>
          <p:cNvSpPr/>
          <p:nvPr/>
        </p:nvSpPr>
        <p:spPr>
          <a:xfrm>
            <a:off x="3051138" y="2849876"/>
            <a:ext cx="2127232" cy="1600846"/>
          </a:xfrm>
          <a:prstGeom prst="roundRect">
            <a:avLst>
              <a:gd name="adj" fmla="val 7735"/>
            </a:avLst>
          </a:prstGeom>
          <a:solidFill>
            <a:srgbClr val="FFFDFB"/>
          </a:solidFill>
          <a:ln w="6350">
            <a:solidFill>
              <a:srgbClr val="EADBD5"/>
            </a:solidFill>
            <a:prstDash val="solid"/>
          </a:ln>
        </p:spPr>
        <p:txBody>
          <a:bodyPr/>
          <a:lstStyle/>
          <a:p>
            <a:endParaRPr lang="en-CO"/>
          </a:p>
        </p:txBody>
      </p:sp>
      <p:sp>
        <p:nvSpPr>
          <p:cNvPr id="21" name="Text 19"/>
          <p:cNvSpPr/>
          <p:nvPr/>
        </p:nvSpPr>
        <p:spPr>
          <a:xfrm>
            <a:off x="3230583" y="3003922"/>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Tracing</a:t>
            </a:r>
            <a:endParaRPr lang="en-US" sz="1200" dirty="0"/>
          </a:p>
        </p:txBody>
      </p:sp>
      <p:sp>
        <p:nvSpPr>
          <p:cNvPr id="22" name="Text 20"/>
          <p:cNvSpPr/>
          <p:nvPr/>
        </p:nvSpPr>
        <p:spPr>
          <a:xfrm>
            <a:off x="3230583" y="3255339"/>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22161A"/>
                </a:solidFill>
                <a:latin typeface="Bricolage Grotesque" pitchFamily="34" charset="0"/>
                <a:ea typeface="Bricolage Grotesque" pitchFamily="34" charset="-122"/>
                <a:cs typeface="Bricolage Grotesque" pitchFamily="34" charset="-120"/>
              </a:rPr>
              <a:t>Every turn</a:t>
            </a:r>
            <a:endParaRPr lang="en-US" sz="2600" dirty="0"/>
          </a:p>
        </p:txBody>
      </p:sp>
      <p:sp>
        <p:nvSpPr>
          <p:cNvPr id="23" name="Text 21"/>
          <p:cNvSpPr/>
          <p:nvPr/>
        </p:nvSpPr>
        <p:spPr>
          <a:xfrm>
            <a:off x="3230583" y="3656657"/>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ops.agent_turns</a:t>
            </a:r>
            <a:endParaRPr lang="en-US" sz="1200" dirty="0"/>
          </a:p>
        </p:txBody>
      </p:sp>
      <p:sp>
        <p:nvSpPr>
          <p:cNvPr id="24" name="Shape 22"/>
          <p:cNvSpPr/>
          <p:nvPr/>
        </p:nvSpPr>
        <p:spPr>
          <a:xfrm>
            <a:off x="5286313" y="2849876"/>
            <a:ext cx="2127232" cy="1600846"/>
          </a:xfrm>
          <a:prstGeom prst="roundRect">
            <a:avLst>
              <a:gd name="adj" fmla="val 7735"/>
            </a:avLst>
          </a:prstGeom>
          <a:solidFill>
            <a:srgbClr val="FDF1DE"/>
          </a:solidFill>
          <a:ln w="6350">
            <a:solidFill>
              <a:srgbClr val="EFD6A8"/>
            </a:solidFill>
            <a:prstDash val="solid"/>
          </a:ln>
        </p:spPr>
        <p:txBody>
          <a:bodyPr/>
          <a:lstStyle/>
          <a:p>
            <a:endParaRPr lang="en-CO"/>
          </a:p>
        </p:txBody>
      </p:sp>
      <p:sp>
        <p:nvSpPr>
          <p:cNvPr id="25" name="Text 23"/>
          <p:cNvSpPr/>
          <p:nvPr/>
        </p:nvSpPr>
        <p:spPr>
          <a:xfrm>
            <a:off x="5465758" y="3003922"/>
            <a:ext cx="182139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4B00"/>
                </a:solidFill>
                <a:latin typeface="Plus Jakarta Sans" pitchFamily="34" charset="0"/>
                <a:ea typeface="Plus Jakarta Sans" pitchFamily="34" charset="-122"/>
                <a:cs typeface="Plus Jakarta Sans" pitchFamily="34" charset="-120"/>
              </a:rPr>
              <a:t>Under load</a:t>
            </a:r>
            <a:endParaRPr lang="en-US" sz="1200" dirty="0"/>
          </a:p>
        </p:txBody>
      </p:sp>
      <p:sp>
        <p:nvSpPr>
          <p:cNvPr id="26" name="Text 24"/>
          <p:cNvSpPr/>
          <p:nvPr/>
        </p:nvSpPr>
        <p:spPr>
          <a:xfrm>
            <a:off x="5465758" y="3255339"/>
            <a:ext cx="1821393" cy="388639"/>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7A4B00"/>
                </a:solidFill>
                <a:latin typeface="Bricolage Grotesque" pitchFamily="34" charset="0"/>
                <a:ea typeface="Bricolage Grotesque" pitchFamily="34" charset="-122"/>
                <a:cs typeface="Bricolage Grotesque" pitchFamily="34" charset="-120"/>
              </a:rPr>
              <a:t>84 of 89</a:t>
            </a:r>
            <a:endParaRPr lang="en-US" sz="2600" dirty="0"/>
          </a:p>
        </p:txBody>
      </p:sp>
      <p:sp>
        <p:nvSpPr>
          <p:cNvPr id="27" name="Text 25"/>
          <p:cNvSpPr/>
          <p:nvPr/>
        </p:nvSpPr>
        <p:spPr>
          <a:xfrm>
            <a:off x="5465758" y="3656657"/>
            <a:ext cx="1821393" cy="66541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4B00"/>
                </a:solidFill>
                <a:latin typeface="Plus Jakarta Sans" pitchFamily="34" charset="0"/>
                <a:ea typeface="Plus Jakarta Sans" pitchFamily="34" charset="-122"/>
                <a:cs typeface="Plus Jakarta Sans" pitchFamily="34" charset="-120"/>
              </a:rPr>
              <a:t>answered; 5 safe handoffs, never a broken answer</a:t>
            </a:r>
            <a:endParaRPr lang="en-US" sz="1200" dirty="0"/>
          </a:p>
        </p:txBody>
      </p:sp>
      <p:sp>
        <p:nvSpPr>
          <p:cNvPr id="28" name="Shape 26"/>
          <p:cNvSpPr/>
          <p:nvPr/>
        </p:nvSpPr>
        <p:spPr>
          <a:xfrm>
            <a:off x="7724714" y="1567765"/>
            <a:ext cx="3651289" cy="3467801"/>
          </a:xfrm>
          <a:prstGeom prst="roundRect">
            <a:avLst>
              <a:gd name="adj" fmla="val 3571"/>
            </a:avLst>
          </a:prstGeom>
          <a:solidFill>
            <a:srgbClr val="FFFDFB"/>
          </a:solidFill>
          <a:ln w="6350">
            <a:solidFill>
              <a:srgbClr val="EADBD5"/>
            </a:solidFill>
            <a:prstDash val="solid"/>
          </a:ln>
        </p:spPr>
        <p:txBody>
          <a:bodyPr/>
          <a:lstStyle/>
          <a:p>
            <a:endParaRPr lang="en-CO"/>
          </a:p>
        </p:txBody>
      </p:sp>
      <p:sp>
        <p:nvSpPr>
          <p:cNvPr id="29" name="Text 27"/>
          <p:cNvSpPr/>
          <p:nvPr/>
        </p:nvSpPr>
        <p:spPr>
          <a:xfrm>
            <a:off x="7904159" y="1747208"/>
            <a:ext cx="3391171" cy="23873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161A"/>
                </a:solidFill>
                <a:latin typeface="Plus Jakarta Sans" pitchFamily="34" charset="0"/>
                <a:ea typeface="Plus Jakarta Sans" pitchFamily="34" charset="-122"/>
                <a:cs typeface="Plus Jakarta Sans" pitchFamily="34" charset="-120"/>
              </a:rPr>
              <a:t>Seconds, one axis</a:t>
            </a:r>
            <a:endParaRPr lang="en-US" sz="1200" dirty="0"/>
          </a:p>
        </p:txBody>
      </p:sp>
      <p:sp>
        <p:nvSpPr>
          <p:cNvPr id="30" name="Shape 28"/>
          <p:cNvSpPr/>
          <p:nvPr/>
        </p:nvSpPr>
        <p:spPr>
          <a:xfrm>
            <a:off x="7904159" y="4221122"/>
            <a:ext cx="3301985" cy="12680"/>
          </a:xfrm>
          <a:prstGeom prst="rect">
            <a:avLst/>
          </a:prstGeom>
          <a:solidFill>
            <a:srgbClr val="B9A9A3"/>
          </a:solidFill>
          <a:ln/>
        </p:spPr>
        <p:txBody>
          <a:bodyPr/>
          <a:lstStyle/>
          <a:p>
            <a:endParaRPr lang="en-CO"/>
          </a:p>
        </p:txBody>
      </p:sp>
      <p:sp>
        <p:nvSpPr>
          <p:cNvPr id="31" name="Shape 29"/>
          <p:cNvSpPr/>
          <p:nvPr/>
        </p:nvSpPr>
        <p:spPr>
          <a:xfrm>
            <a:off x="8094628" y="2557428"/>
            <a:ext cx="698476" cy="1663692"/>
          </a:xfrm>
          <a:custGeom>
            <a:avLst/>
            <a:gdLst/>
            <a:ahLst/>
            <a:cxnLst/>
            <a:rect l="l" t="t" r="r" b="b"/>
            <a:pathLst>
              <a:path w="698476" h="1663692">
                <a:moveTo>
                  <a:pt x="38100" y="0"/>
                </a:moveTo>
                <a:lnTo>
                  <a:pt x="660376" y="0"/>
                </a:lnTo>
                <a:arcTo wR="38100" hR="38100" stAng="16200000" swAng="5400000"/>
                <a:lnTo>
                  <a:pt x="698476" y="1663692"/>
                </a:lnTo>
                <a:lnTo>
                  <a:pt x="0" y="1663692"/>
                </a:lnTo>
                <a:lnTo>
                  <a:pt x="0" y="38100"/>
                </a:lnTo>
                <a:arcTo wR="38100" hR="38100" stAng="10800000" swAng="5400000"/>
                <a:close/>
              </a:path>
            </a:pathLst>
          </a:custGeom>
          <a:solidFill>
            <a:srgbClr val="B7791F"/>
          </a:solidFill>
          <a:ln/>
        </p:spPr>
        <p:txBody>
          <a:bodyPr/>
          <a:lstStyle/>
          <a:p>
            <a:endParaRPr lang="en-CO"/>
          </a:p>
        </p:txBody>
      </p:sp>
      <p:sp>
        <p:nvSpPr>
          <p:cNvPr id="32" name="Shape 30"/>
          <p:cNvSpPr/>
          <p:nvPr/>
        </p:nvSpPr>
        <p:spPr>
          <a:xfrm>
            <a:off x="9205894" y="2811413"/>
            <a:ext cx="698476" cy="1409670"/>
          </a:xfrm>
          <a:custGeom>
            <a:avLst/>
            <a:gdLst/>
            <a:ahLst/>
            <a:cxnLst/>
            <a:rect l="l" t="t" r="r" b="b"/>
            <a:pathLst>
              <a:path w="698476" h="1409670">
                <a:moveTo>
                  <a:pt x="38100" y="0"/>
                </a:moveTo>
                <a:lnTo>
                  <a:pt x="660376" y="0"/>
                </a:lnTo>
                <a:arcTo wR="38100" hR="38100" stAng="16200000" swAng="5400000"/>
                <a:lnTo>
                  <a:pt x="698476" y="1409670"/>
                </a:lnTo>
                <a:lnTo>
                  <a:pt x="0" y="1409670"/>
                </a:lnTo>
                <a:lnTo>
                  <a:pt x="0" y="38100"/>
                </a:lnTo>
                <a:arcTo wR="38100" hR="38100" stAng="10800000" swAng="5400000"/>
                <a:close/>
              </a:path>
            </a:pathLst>
          </a:custGeom>
          <a:solidFill>
            <a:srgbClr val="D9CCC7"/>
          </a:solidFill>
          <a:ln/>
        </p:spPr>
        <p:txBody>
          <a:bodyPr/>
          <a:lstStyle/>
          <a:p>
            <a:endParaRPr lang="en-CO"/>
          </a:p>
        </p:txBody>
      </p:sp>
      <p:sp>
        <p:nvSpPr>
          <p:cNvPr id="33" name="Shape 31"/>
          <p:cNvSpPr/>
          <p:nvPr/>
        </p:nvSpPr>
        <p:spPr>
          <a:xfrm>
            <a:off x="10317123" y="3776628"/>
            <a:ext cx="698476" cy="444491"/>
          </a:xfrm>
          <a:custGeom>
            <a:avLst/>
            <a:gdLst/>
            <a:ahLst/>
            <a:cxnLst/>
            <a:rect l="l" t="t" r="r" b="b"/>
            <a:pathLst>
              <a:path w="698476" h="444491">
                <a:moveTo>
                  <a:pt x="38100" y="0"/>
                </a:moveTo>
                <a:lnTo>
                  <a:pt x="660376" y="0"/>
                </a:lnTo>
                <a:arcTo wR="38100" hR="38100" stAng="16200000" swAng="5400000"/>
                <a:lnTo>
                  <a:pt x="698476" y="444491"/>
                </a:lnTo>
                <a:lnTo>
                  <a:pt x="0" y="444491"/>
                </a:lnTo>
                <a:lnTo>
                  <a:pt x="0" y="38100"/>
                </a:lnTo>
                <a:arcTo wR="38100" hR="38100" stAng="10800000" swAng="5400000"/>
                <a:close/>
              </a:path>
            </a:pathLst>
          </a:custGeom>
          <a:solidFill>
            <a:srgbClr val="145C3B"/>
          </a:solidFill>
          <a:ln/>
        </p:spPr>
        <p:txBody>
          <a:bodyPr/>
          <a:lstStyle/>
          <a:p>
            <a:endParaRPr lang="en-CO"/>
          </a:p>
        </p:txBody>
      </p:sp>
      <p:sp>
        <p:nvSpPr>
          <p:cNvPr id="34" name="Shape 32"/>
          <p:cNvSpPr/>
          <p:nvPr/>
        </p:nvSpPr>
        <p:spPr>
          <a:xfrm>
            <a:off x="7904159" y="3468656"/>
            <a:ext cx="3301985" cy="0"/>
          </a:xfrm>
          <a:prstGeom prst="line">
            <a:avLst/>
          </a:prstGeom>
          <a:noFill/>
          <a:ln w="19050">
            <a:solidFill>
              <a:srgbClr val="7A4B00"/>
            </a:solidFill>
            <a:prstDash val="dash"/>
          </a:ln>
        </p:spPr>
        <p:txBody>
          <a:bodyPr/>
          <a:lstStyle/>
          <a:p>
            <a:endParaRPr lang="en-CO"/>
          </a:p>
        </p:txBody>
      </p:sp>
      <p:sp>
        <p:nvSpPr>
          <p:cNvPr id="35" name="Text 33"/>
          <p:cNvSpPr/>
          <p:nvPr/>
        </p:nvSpPr>
        <p:spPr>
          <a:xfrm>
            <a:off x="10285385" y="3217825"/>
            <a:ext cx="971522" cy="23873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4B00"/>
                </a:solidFill>
                <a:latin typeface="Plus Jakarta Sans" pitchFamily="34" charset="0"/>
                <a:ea typeface="Plus Jakarta Sans" pitchFamily="34" charset="-122"/>
                <a:cs typeface="Plus Jakarta Sans" pitchFamily="34" charset="-120"/>
              </a:rPr>
              <a:t>target 8 s</a:t>
            </a:r>
            <a:endParaRPr lang="en-US" sz="1200" dirty="0"/>
          </a:p>
        </p:txBody>
      </p:sp>
      <p:sp>
        <p:nvSpPr>
          <p:cNvPr id="36" name="Text 34"/>
          <p:cNvSpPr/>
          <p:nvPr/>
        </p:nvSpPr>
        <p:spPr>
          <a:xfrm>
            <a:off x="7973975" y="2303407"/>
            <a:ext cx="939783" cy="2387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7A4B00"/>
                </a:solidFill>
                <a:latin typeface="Plus Jakarta Sans" pitchFamily="34" charset="0"/>
                <a:ea typeface="Plus Jakarta Sans" pitchFamily="34" charset="-122"/>
                <a:cs typeface="Plus Jakarta Sans" pitchFamily="34" charset="-120"/>
              </a:rPr>
              <a:t>17.5</a:t>
            </a:r>
            <a:endParaRPr lang="en-US" sz="1200" dirty="0"/>
          </a:p>
        </p:txBody>
      </p:sp>
      <p:sp>
        <p:nvSpPr>
          <p:cNvPr id="37" name="Text 35"/>
          <p:cNvSpPr/>
          <p:nvPr/>
        </p:nvSpPr>
        <p:spPr>
          <a:xfrm>
            <a:off x="9085241" y="2557428"/>
            <a:ext cx="939783" cy="238739"/>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14.8</a:t>
            </a:r>
            <a:endParaRPr lang="en-US" sz="1200" dirty="0"/>
          </a:p>
        </p:txBody>
      </p:sp>
      <p:sp>
        <p:nvSpPr>
          <p:cNvPr id="38" name="Text 36"/>
          <p:cNvSpPr/>
          <p:nvPr/>
        </p:nvSpPr>
        <p:spPr>
          <a:xfrm>
            <a:off x="10196507" y="3522607"/>
            <a:ext cx="939783" cy="2387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5C3B"/>
                </a:solidFill>
                <a:latin typeface="Plus Jakarta Sans" pitchFamily="34" charset="0"/>
                <a:ea typeface="Plus Jakarta Sans" pitchFamily="34" charset="-122"/>
                <a:cs typeface="Plus Jakarta Sans" pitchFamily="34" charset="-120"/>
              </a:rPr>
              <a:t>4.7</a:t>
            </a:r>
            <a:endParaRPr lang="en-US" sz="1200" dirty="0"/>
          </a:p>
        </p:txBody>
      </p:sp>
      <p:sp>
        <p:nvSpPr>
          <p:cNvPr id="39" name="Text 37"/>
          <p:cNvSpPr/>
          <p:nvPr/>
        </p:nvSpPr>
        <p:spPr>
          <a:xfrm>
            <a:off x="7878759" y="4297316"/>
            <a:ext cx="1130290" cy="421585"/>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22161A"/>
                </a:solidFill>
                <a:latin typeface="Plus Jakarta Sans" pitchFamily="34" charset="0"/>
                <a:ea typeface="Plus Jakarta Sans" pitchFamily="34" charset="-122"/>
                <a:cs typeface="Plus Jakarta Sans" pitchFamily="34" charset="-120"/>
              </a:rPr>
              <a:t>p95 under load</a:t>
            </a:r>
            <a:endParaRPr lang="en-US" sz="1200" dirty="0"/>
          </a:p>
        </p:txBody>
      </p:sp>
      <p:sp>
        <p:nvSpPr>
          <p:cNvPr id="40" name="Text 38"/>
          <p:cNvSpPr/>
          <p:nvPr/>
        </p:nvSpPr>
        <p:spPr>
          <a:xfrm>
            <a:off x="8989987" y="4297316"/>
            <a:ext cx="1130290" cy="421585"/>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22161A"/>
                </a:solidFill>
                <a:latin typeface="Plus Jakarta Sans" pitchFamily="34" charset="0"/>
                <a:ea typeface="Plus Jakarta Sans" pitchFamily="34" charset="-122"/>
                <a:cs typeface="Plus Jakarta Sans" pitchFamily="34" charset="-120"/>
              </a:rPr>
              <a:t>pre-check p50, before</a:t>
            </a:r>
            <a:endParaRPr lang="en-US" sz="1200" dirty="0"/>
          </a:p>
        </p:txBody>
      </p:sp>
      <p:sp>
        <p:nvSpPr>
          <p:cNvPr id="41" name="Text 39"/>
          <p:cNvSpPr/>
          <p:nvPr/>
        </p:nvSpPr>
        <p:spPr>
          <a:xfrm>
            <a:off x="10101253" y="4297316"/>
            <a:ext cx="1130290" cy="421585"/>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22161A"/>
                </a:solidFill>
                <a:latin typeface="Plus Jakarta Sans" pitchFamily="34" charset="0"/>
                <a:ea typeface="Plus Jakarta Sans" pitchFamily="34" charset="-122"/>
                <a:cs typeface="Plus Jakarta Sans" pitchFamily="34" charset="-120"/>
              </a:rPr>
              <a:t>after the SQL memo</a:t>
            </a:r>
            <a:endParaRPr lang="en-US" sz="1200" dirty="0"/>
          </a:p>
        </p:txBody>
      </p:sp>
      <p:sp>
        <p:nvSpPr>
          <p:cNvPr id="42" name="Text 40">
            <a:hlinkClick r:id="rId4"/>
          </p:cNvPr>
          <p:cNvSpPr/>
          <p:nvPr/>
        </p:nvSpPr>
        <p:spPr>
          <a:xfrm>
            <a:off x="812788" y="6238277"/>
            <a:ext cx="10203173"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k6 carga.yml, 10 users, 1 min · ops.agent_turns · App Insights · Azure Functions · Databricks · Cosmos DB · Terraform</a:t>
            </a:r>
            <a:endParaRPr lang="en-US" sz="1200" dirty="0"/>
          </a:p>
        </p:txBody>
      </p:sp>
      <p:sp>
        <p:nvSpPr>
          <p:cNvPr id="43" name="Text 41"/>
          <p:cNvSpPr/>
          <p:nvPr/>
        </p:nvSpPr>
        <p:spPr>
          <a:xfrm>
            <a:off x="10820409" y="6238277"/>
            <a:ext cx="558769" cy="238739"/>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5F"/>
                </a:solidFill>
                <a:latin typeface="Plus Jakarta Sans" pitchFamily="34" charset="0"/>
                <a:ea typeface="Plus Jakarta Sans" pitchFamily="34" charset="-122"/>
                <a:cs typeface="Plus Jakarta Sans" pitchFamily="34" charset="-120"/>
              </a:rPr>
              <a:t>6</a:t>
            </a:r>
            <a:endParaRPr lang="en-US" sz="1200" dirty="0"/>
          </a:p>
        </p:txBody>
      </p:sp>
      <p:sp>
        <p:nvSpPr>
          <p:cNvPr id="9023" name="What's next card"/>
          <p:cNvSpPr/>
          <p:nvPr/>
        </p:nvSpPr>
        <p:spPr>
          <a:xfrm>
            <a:off x="813816" y="4645152"/>
            <a:ext cx="6601968" cy="1325880"/>
          </a:xfrm>
          <a:prstGeom prst="roundRect">
            <a:avLst>
              <a:gd name="adj" fmla="val 11264"/>
            </a:avLst>
          </a:prstGeom>
          <a:solidFill>
            <a:srgbClr val="FFFDFB"/>
          </a:solidFill>
          <a:ln w="6350">
            <a:solidFill>
              <a:srgbClr val="EADBD5"/>
            </a:solidFill>
          </a:ln>
        </p:spPr>
        <p:txBody>
          <a:bodyPr/>
          <a:lstStyle/>
          <a:p>
            <a:endParaRPr lang="en-US"/>
          </a:p>
        </p:txBody>
      </p:sp>
      <p:sp>
        <p:nvSpPr>
          <p:cNvPr id="9024" name="What's next title">
            <a:hlinkClick r:id="rId4"/>
          </p:cNvPr>
          <p:cNvSpPr txBox="1"/>
          <p:nvPr/>
        </p:nvSpPr>
        <p:spPr>
          <a:xfrm>
            <a:off x="996696" y="4754880"/>
            <a:ext cx="6217920" cy="274320"/>
          </a:xfrm>
          <a:prstGeom prst="rect">
            <a:avLst/>
          </a:prstGeom>
          <a:noFill/>
          <a:ln/>
        </p:spPr>
        <p:txBody>
          <a:bodyPr wrap="square" lIns="0" tIns="0" rIns="0" bIns="0" rtlCol="0" anchor="t">
            <a:noAutofit/>
          </a:bodyPr>
          <a:lstStyle/>
          <a:p>
            <a:pPr marL="0" indent="0" algn="l">
              <a:lnSpc>
                <a:spcPts val="1680"/>
              </a:lnSpc>
              <a:buNone/>
            </a:pPr>
            <a:r>
              <a:rPr lang="en-US" sz="1400" b="1" dirty="0">
                <a:solidFill>
                  <a:srgbClr val="22161A"/>
                </a:solidFill>
                <a:latin typeface="Plus Jakarta Sans"/>
                <a:ea typeface="Plus Jakarta Sans"/>
                <a:cs typeface="Plus Jakarta Sans"/>
              </a:rPr>
              <a:t>What's next, and why</a:t>
            </a:r>
            <a:endParaRPr lang="en-US" sz="1400" dirty="0"/>
          </a:p>
        </p:txBody>
      </p:sp>
      <p:sp>
        <p:nvSpPr>
          <p:cNvPr id="9025" name="What's next rows"/>
          <p:cNvSpPr txBox="1"/>
          <p:nvPr/>
        </p:nvSpPr>
        <p:spPr>
          <a:xfrm>
            <a:off x="996696" y="5074920"/>
            <a:ext cx="6217920" cy="868680"/>
          </a:xfrm>
          <a:prstGeom prst="rect">
            <a:avLst/>
          </a:prstGeom>
          <a:noFill/>
          <a:ln/>
        </p:spPr>
        <p:txBody>
          <a:bodyPr wrap="square" lIns="0" tIns="0" rIns="0" bIns="0" rtlCol="0" anchor="t">
            <a:noAutofit/>
          </a:bodyPr>
          <a:lstStyle/>
          <a:p>
            <a:pPr marL="0" indent="0" algn="l">
              <a:lnSpc>
                <a:spcPts val="1560"/>
              </a:lnSpc>
              <a:spcAft>
                <a:spcPts val="300"/>
              </a:spcAft>
              <a:buNone/>
            </a:pPr>
            <a:r>
              <a:rPr lang="en-US" sz="1200" b="1" dirty="0">
                <a:solidFill>
                  <a:srgbClr val="22161A"/>
                </a:solidFill>
                <a:latin typeface="Plus Jakarta Sans"/>
                <a:ea typeface="Plus Jakarta Sans"/>
                <a:cs typeface="Plus Jakarta Sans"/>
              </a:rPr>
              <a:t>p95 under load  →  </a:t>
            </a:r>
            <a:r>
              <a:rPr lang="en-US" sz="1200" dirty="0">
                <a:solidFill>
                  <a:srgbClr val="6B5A5F"/>
                </a:solidFill>
                <a:latin typeface="Plus Jakarta Sans"/>
                <a:ea typeface="Plus Jakarta Sans"/>
                <a:cs typeface="Plus Jakarta Sans"/>
              </a:rPr>
              <a:t>provisioned LLM throughput and retry on rate limits</a:t>
            </a:r>
            <a:endParaRPr lang="en-US" sz="1200" dirty="0"/>
          </a:p>
          <a:p>
            <a:pPr marL="0" indent="0" algn="l">
              <a:lnSpc>
                <a:spcPts val="1560"/>
              </a:lnSpc>
              <a:spcAft>
                <a:spcPts val="300"/>
              </a:spcAft>
              <a:buNone/>
            </a:pPr>
            <a:r>
              <a:rPr lang="en-US" sz="1200" b="1" dirty="0">
                <a:solidFill>
                  <a:srgbClr val="22161A"/>
                </a:solidFill>
                <a:latin typeface="Plus Jakarta Sans"/>
                <a:ea typeface="Plus Jakarta Sans"/>
                <a:cs typeface="Plus Jakarta Sans"/>
              </a:rPr>
              <a:t>Real intent labels  →  </a:t>
            </a:r>
            <a:r>
              <a:rPr lang="en-US" sz="1200" dirty="0">
                <a:solidFill>
                  <a:srgbClr val="6B5A5F"/>
                </a:solidFill>
                <a:latin typeface="Plus Jakarta Sans"/>
                <a:ea typeface="Plus Jakarta Sans"/>
                <a:cs typeface="Plus Jakarta Sans"/>
              </a:rPr>
              <a:t>label real call transcripts</a:t>
            </a:r>
            <a:endParaRPr lang="en-US" sz="1200" dirty="0"/>
          </a:p>
          <a:p>
            <a:pPr marL="0" indent="0" algn="l">
              <a:lnSpc>
                <a:spcPts val="1560"/>
              </a:lnSpc>
              <a:spcAft>
                <a:spcPts val="300"/>
              </a:spcAft>
              <a:buNone/>
            </a:pPr>
            <a:r>
              <a:rPr lang="en-US" sz="1200" b="1" dirty="0">
                <a:solidFill>
                  <a:srgbClr val="22161A"/>
                </a:solidFill>
                <a:latin typeface="Plus Jakarta Sans"/>
                <a:ea typeface="Plus Jakarta Sans"/>
                <a:cs typeface="Plus Jakarta Sans"/>
              </a:rPr>
              <a:t>CO and MX rate caps  →  </a:t>
            </a:r>
            <a:r>
              <a:rPr lang="en-US" sz="1200" dirty="0">
                <a:solidFill>
                  <a:srgbClr val="6B5A5F"/>
                </a:solidFill>
                <a:latin typeface="Plus Jakarta Sans"/>
                <a:ea typeface="Plus Jakarta Sans"/>
                <a:cs typeface="Plus Jakarta Sans"/>
              </a:rPr>
              <a:t>official monthly figures, cited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5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5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5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50"/>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5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5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5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50"/>
                                        <p:tgtEl>
                                          <p:spTgt spid="26"/>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50"/>
                                        <p:tgtEl>
                                          <p:spTgt spid="27"/>
                                        </p:tgtEl>
                                      </p:cBhvr>
                                    </p:animEffect>
                                  </p:childTnLst>
                                </p:cTn>
                              </p:par>
                            </p:childTnLst>
                          </p:cTn>
                        </p:par>
                        <p:par>
                          <p:cTn id="77" fill="hold">
                            <p:stCondLst>
                              <p:cond delay="680"/>
                            </p:stCondLst>
                            <p:childTnLst>
                              <p:par>
                                <p:cTn id="78" presetID="10" presetClass="entr" presetSubtype="0" fill="hold"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50"/>
                                        <p:tgtEl>
                                          <p:spTgt spid="28"/>
                                        </p:tgtEl>
                                      </p:cBhvr>
                                    </p:animEffect>
                                  </p:childTnLst>
                                </p:cTn>
                              </p:par>
                              <p:par>
                                <p:cTn id="81" presetID="10"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5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50"/>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50"/>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50"/>
                                        <p:tgtEl>
                                          <p:spTgt spid="32"/>
                                        </p:tgtEl>
                                      </p:cBhvr>
                                    </p:animEffect>
                                  </p:childTnLst>
                                </p:cTn>
                              </p:par>
                              <p:par>
                                <p:cTn id="93" presetID="10" presetClass="entr" presetSubtype="0" fill="hold"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50"/>
                                        <p:tgtEl>
                                          <p:spTgt spid="33"/>
                                        </p:tgtEl>
                                      </p:cBhvr>
                                    </p:animEffect>
                                  </p:childTnLst>
                                </p:cTn>
                              </p:par>
                              <p:par>
                                <p:cTn id="96" presetID="10" presetClass="entr" presetSubtype="0" fill="hold"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50"/>
                                        <p:tgtEl>
                                          <p:spTgt spid="34"/>
                                        </p:tgtEl>
                                      </p:cBhvr>
                                    </p:animEffect>
                                  </p:childTnLst>
                                </p:cTn>
                              </p:par>
                              <p:par>
                                <p:cTn id="99" presetID="10" presetClass="entr" presetSubtype="0" fill="hold"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50"/>
                                        <p:tgtEl>
                                          <p:spTgt spid="35"/>
                                        </p:tgtEl>
                                      </p:cBhvr>
                                    </p:animEffect>
                                  </p:childTnLst>
                                </p:cTn>
                              </p:par>
                              <p:par>
                                <p:cTn id="102" presetID="10" presetClass="entr" presetSubtype="0" fill="hold"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50"/>
                                        <p:tgtEl>
                                          <p:spTgt spid="36"/>
                                        </p:tgtEl>
                                      </p:cBhvr>
                                    </p:animEffect>
                                  </p:childTnLst>
                                </p:cTn>
                              </p:par>
                              <p:par>
                                <p:cTn id="105" presetID="10" presetClass="entr" presetSubtype="0" fill="hold"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50"/>
                                        <p:tgtEl>
                                          <p:spTgt spid="37"/>
                                        </p:tgtEl>
                                      </p:cBhvr>
                                    </p:animEffect>
                                  </p:childTnLst>
                                </p:cTn>
                              </p:par>
                              <p:par>
                                <p:cTn id="108" presetID="10" presetClass="entr" presetSubtype="0" fill="hold"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50"/>
                                        <p:tgtEl>
                                          <p:spTgt spid="38"/>
                                        </p:tgtEl>
                                      </p:cBhvr>
                                    </p:animEffect>
                                  </p:childTnLst>
                                </p:cTn>
                              </p:par>
                              <p:par>
                                <p:cTn id="111" presetID="10" presetClass="entr" presetSubtype="0" fill="hold"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50"/>
                                        <p:tgtEl>
                                          <p:spTgt spid="39"/>
                                        </p:tgtEl>
                                      </p:cBhvr>
                                    </p:animEffect>
                                  </p:childTnLst>
                                </p:cTn>
                              </p:par>
                              <p:par>
                                <p:cTn id="114" presetID="10" presetClass="entr" presetSubtype="0" fill="hold"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550"/>
                                        <p:tgtEl>
                                          <p:spTgt spid="40"/>
                                        </p:tgtEl>
                                      </p:cBhvr>
                                    </p:animEffect>
                                  </p:childTnLst>
                                </p:cTn>
                              </p:par>
                              <p:par>
                                <p:cTn id="117" presetID="10" presetClass="entr" presetSubtype="0" fill="hold"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50"/>
                                        <p:tgtEl>
                                          <p:spTgt spid="41"/>
                                        </p:tgtEl>
                                      </p:cBhvr>
                                    </p:animEffect>
                                  </p:childTnLst>
                                </p:cTn>
                              </p:par>
                            </p:childTnLst>
                          </p:cTn>
                        </p:par>
                        <p:par>
                          <p:cTn id="120" fill="hold">
                            <p:stCondLst>
                              <p:cond delay="1060"/>
                            </p:stCondLst>
                            <p:childTnLst>
                              <p:par>
                                <p:cTn id="121" presetID="10" presetClass="entr" presetSubtype="0" fill="hold" nodeType="withEffect">
                                  <p:stCondLst>
                                    <p:cond delay="0"/>
                                  </p:stCondLst>
                                  <p:childTnLst>
                                    <p:set>
                                      <p:cBhvr>
                                        <p:cTn id="122" dur="1" fill="hold">
                                          <p:stCondLst>
                                            <p:cond delay="0"/>
                                          </p:stCondLst>
                                        </p:cTn>
                                        <p:tgtEl>
                                          <p:spTgt spid="9023"/>
                                        </p:tgtEl>
                                        <p:attrNameLst>
                                          <p:attrName>style.visibility</p:attrName>
                                        </p:attrNameLst>
                                      </p:cBhvr>
                                      <p:to>
                                        <p:strVal val="visible"/>
                                      </p:to>
                                    </p:set>
                                    <p:animEffect transition="in" filter="fade">
                                      <p:cBhvr>
                                        <p:cTn id="123" dur="550"/>
                                        <p:tgtEl>
                                          <p:spTgt spid="9023"/>
                                        </p:tgtEl>
                                      </p:cBhvr>
                                    </p:animEffect>
                                  </p:childTnLst>
                                </p:cTn>
                              </p:par>
                              <p:par>
                                <p:cTn id="124" presetID="10" presetClass="entr" presetSubtype="0" fill="hold" nodeType="withEffect">
                                  <p:stCondLst>
                                    <p:cond delay="0"/>
                                  </p:stCondLst>
                                  <p:childTnLst>
                                    <p:set>
                                      <p:cBhvr>
                                        <p:cTn id="125" dur="1" fill="hold">
                                          <p:stCondLst>
                                            <p:cond delay="0"/>
                                          </p:stCondLst>
                                        </p:cTn>
                                        <p:tgtEl>
                                          <p:spTgt spid="9024"/>
                                        </p:tgtEl>
                                        <p:attrNameLst>
                                          <p:attrName>style.visibility</p:attrName>
                                        </p:attrNameLst>
                                      </p:cBhvr>
                                      <p:to>
                                        <p:strVal val="visible"/>
                                      </p:to>
                                    </p:set>
                                    <p:animEffect transition="in" filter="fade">
                                      <p:cBhvr>
                                        <p:cTn id="126" dur="550"/>
                                        <p:tgtEl>
                                          <p:spTgt spid="9024"/>
                                        </p:tgtEl>
                                      </p:cBhvr>
                                    </p:animEffect>
                                  </p:childTnLst>
                                </p:cTn>
                              </p:par>
                              <p:par>
                                <p:cTn id="127" presetID="10" presetClass="entr" presetSubtype="0" fill="hold" nodeType="withEffect">
                                  <p:stCondLst>
                                    <p:cond delay="0"/>
                                  </p:stCondLst>
                                  <p:childTnLst>
                                    <p:set>
                                      <p:cBhvr>
                                        <p:cTn id="128" dur="1" fill="hold">
                                          <p:stCondLst>
                                            <p:cond delay="0"/>
                                          </p:stCondLst>
                                        </p:cTn>
                                        <p:tgtEl>
                                          <p:spTgt spid="9025"/>
                                        </p:tgtEl>
                                        <p:attrNameLst>
                                          <p:attrName>style.visibility</p:attrName>
                                        </p:attrNameLst>
                                      </p:cBhvr>
                                      <p:to>
                                        <p:strVal val="visible"/>
                                      </p:to>
                                    </p:set>
                                    <p:animEffect transition="in" filter="fade">
                                      <p:cBhvr>
                                        <p:cTn id="129" dur="550"/>
                                        <p:tgtEl>
                                          <p:spTgt spid="9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 Trident · Agente Crédito LATAM">
  <a:themeElements>
    <a:clrScheme name="The Trident · Agente Crédito LATAM">
      <a:dk1>
        <a:srgbClr val="22161A"/>
      </a:dk1>
      <a:lt1>
        <a:srgbClr val="FAF6F4"/>
      </a:lt1>
      <a:dk2>
        <a:srgbClr val="584E51"/>
      </a:dk2>
      <a:lt2>
        <a:srgbClr val="E4E0DE"/>
      </a:lt2>
      <a:accent1>
        <a:srgbClr val="145C3B"/>
      </a:accent1>
      <a:accent2>
        <a:srgbClr val="7A4B00"/>
      </a:accent2>
      <a:accent3>
        <a:srgbClr val="B0243A"/>
      </a:accent3>
      <a:accent4>
        <a:srgbClr val="861B2C"/>
      </a:accent4>
      <a:accent5>
        <a:srgbClr val="1D3F8A"/>
      </a:accent5>
      <a:accent6>
        <a:srgbClr val="5E9478"/>
      </a:accent6>
      <a:hlink>
        <a:srgbClr val="0563C1"/>
      </a:hlink>
      <a:folHlink>
        <a:srgbClr val="954F72"/>
      </a:folHlink>
    </a:clrScheme>
    <a:fontScheme name="The Trident · Agente Crédito LATAM">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1698</Words>
  <Application>Microsoft Macintosh PowerPoint</Application>
  <PresentationFormat>Widescreen</PresentationFormat>
  <Paragraphs>172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Bricolage Grotesque</vt:lpstr>
      <vt:lpstr>IBM Plex Mono</vt:lpstr>
      <vt:lpstr>Plus Jakarta Sans</vt:lpstr>
      <vt:lpstr>The Trident · Agente Crédito LATAM</vt:lpstr>
      <vt:lpstr>PowerPoint Presentation</vt:lpstr>
      <vt:lpstr>The most repeatable contact, and where an AI must never decide</vt:lpstr>
      <vt:lpstr>The model talks. Rules decide. Every figure is cited.</vt:lpstr>
      <vt:lpstr>Built the way a bank runs it, all in code</vt:lpstr>
      <vt:lpstr>It knows when not to act, on real data</vt:lpstr>
      <vt:lpstr>Live, all-real, and built to be operated.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Trident · Agente Crédito LATAM</dc:title>
  <dc:subject/>
  <dc:creator/>
  <cp:lastModifiedBy>Manuela Larrea Gomez</cp:lastModifiedBy>
  <cp:revision>2</cp:revision>
  <dcterms:created xsi:type="dcterms:W3CDTF">2026-10-06T02:05:30Z</dcterms:created>
  <dcterms:modified xsi:type="dcterms:W3CDTF">2026-10-06T02:59:21Z</dcterms:modified>
</cp:coreProperties>
</file>